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6" r:id="rId2"/>
    <p:sldId id="275" r:id="rId3"/>
    <p:sldId id="284" r:id="rId4"/>
    <p:sldId id="296" r:id="rId5"/>
    <p:sldId id="297" r:id="rId6"/>
    <p:sldId id="302" r:id="rId7"/>
    <p:sldId id="301" r:id="rId8"/>
    <p:sldId id="298" r:id="rId9"/>
    <p:sldId id="303" r:id="rId10"/>
    <p:sldId id="304" r:id="rId11"/>
    <p:sldId id="299" r:id="rId12"/>
    <p:sldId id="305" r:id="rId13"/>
    <p:sldId id="306" r:id="rId14"/>
    <p:sldId id="300" r:id="rId15"/>
    <p:sldId id="309" r:id="rId16"/>
    <p:sldId id="310" r:id="rId17"/>
    <p:sldId id="307" r:id="rId18"/>
    <p:sldId id="308" r:id="rId19"/>
    <p:sldId id="29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E66"/>
    <a:srgbClr val="C52816"/>
    <a:srgbClr val="FFFFFF"/>
    <a:srgbClr val="D4EBE3"/>
    <a:srgbClr val="538B4B"/>
    <a:srgbClr val="E8FAE5"/>
    <a:srgbClr val="9DA953"/>
    <a:srgbClr val="285023"/>
    <a:srgbClr val="FFD1CD"/>
    <a:srgbClr val="FFE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7" autoAdjust="0"/>
    <p:restoredTop sz="93471" autoAdjust="0"/>
  </p:normalViewPr>
  <p:slideViewPr>
    <p:cSldViewPr snapToGrid="0">
      <p:cViewPr varScale="1">
        <p:scale>
          <a:sx n="98" d="100"/>
          <a:sy n="98" d="100"/>
        </p:scale>
        <p:origin x="5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37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1048638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39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3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2026/4/16</a:t>
            </a:fld>
            <a:endParaRPr lang="zh-CN" altLang="en-US" dirty="0"/>
          </a:p>
        </p:txBody>
      </p:sp>
      <p:sp>
        <p:nvSpPr>
          <p:cNvPr id="104863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104863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4863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3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各位助教老师好，现在我来开始我的</a:t>
            </a:r>
            <a:r>
              <a:rPr lang="en-US" altLang="zh-CN" dirty="0">
                <a:sym typeface="+mn-ea"/>
              </a:rPr>
              <a:t> C </a:t>
            </a:r>
            <a:r>
              <a:rPr lang="zh-CN" altLang="en-US" dirty="0">
                <a:sym typeface="+mn-ea"/>
              </a:rPr>
              <a:t>阶段答辩</a:t>
            </a:r>
            <a:endParaRPr lang="en-US" altLang="zh-CN" dirty="0">
              <a:sym typeface="+mn-ea"/>
            </a:endParaRPr>
          </a:p>
        </p:txBody>
      </p:sp>
      <p:sp>
        <p:nvSpPr>
          <p:cNvPr id="104859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82B6-484C-CDCE-3B5D-AA36C269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9DB73F52-4671-E81C-C902-74CBF6C43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302E416A-26D2-94C1-A26F-12D1613CB7A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737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AB5F-6AA9-20E0-209D-F917B517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7B184D14-CD51-51D2-EF1B-47DD5E144E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E1852FF7-0CD9-351E-F1F9-FCE39EF282E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600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1269-6D2A-63FC-02A9-96E9C843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1608AB50-486F-BB8D-43BA-E953A925F7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5585854E-D316-0F62-381E-99230678356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0183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C84A-C9CA-2C49-1D06-BF0B79239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A5838BB9-8A64-11C8-EFCD-E88CEBA076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ACB3A655-2398-0B55-7C10-955A699BDCC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6717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984A-6801-B7F9-D813-2BAB9393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7B561691-60CC-DC67-861E-D545AD583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6E55C8D2-EA74-108A-51D6-4E679F6F6EB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7087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1770-881B-2629-A6A6-C2A0A9A4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247B5541-69D4-7C11-826C-10A19C41D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E6ECB0AD-4B18-6B03-C0D8-19299457189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57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3583-12D2-4A61-3773-E3E4D575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9254E8D2-0FE4-ED44-FF3C-6FA9EB146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E961E4A0-1853-416F-289A-5CB6979CA45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9880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884D-9527-AA3A-DB45-24804D30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490DE82C-DA40-D2BA-21DC-B24DF9233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D3BC5ECF-2F7C-92DE-D634-5F529DB0F0A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8529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2D160-E6C0-6D09-0E80-0CA63DC7D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2F851392-1AA5-DF35-C86B-A650759E0F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0D82E5C2-32E0-5CF4-094E-FCFBC3983BB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1838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7A21D-2F87-EDE4-4541-5AF1247B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A7DE7702-6BE7-4F93-91F7-E73FF87B06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EF3E2991-AA49-715F-F3F9-EBFFDD30B72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7930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0FCB-D81E-AE47-E7DD-E73809EB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6161FF8D-1A2D-ACCD-A725-239205D9C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6FFECC6B-2873-5F63-CEFE-68873FAEBF2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8141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F6CA4-1C83-338E-0A86-F3AA6326D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866C699C-378A-275B-FF5B-C344AAA13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A0B2F69D-4607-02DD-C3DB-90012EAB276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7205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CC6D-02E7-1D77-8E6E-BE7FAEEFD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B9234B08-F03C-08E8-1C6E-5852873D7F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4F0764F7-233A-1AE1-979B-A798D3A6D4A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54429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469CA-DAD1-ED80-63E5-471C3502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5E278DD8-C3CB-858E-4B6C-E2676B1BEE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3EA924A2-4F5F-0820-57C8-932F43EA75F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4310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B91E-68D3-2CB8-BE1E-D7447E70F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40900CD4-97E2-9E95-499B-6C1D4031E3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62320093-DF00-F178-3AD4-FD82A8CA8B1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8520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315F4-90BE-83E7-96CE-A5950805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9396F480-4796-FBA0-C544-31C425795F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E251D8A4-9F0E-A8F1-5533-E3F473BAD02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4019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104858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048592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04859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104859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9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59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04861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104862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2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6038910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04862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104862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2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6119933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0486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10486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6027335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04861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10486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1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104857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7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powerpoint template design by DAJU_PPT正版来源小红书大橘PPT微信DAJU_PPT请勿抄袭搬运！盗版必究！"/>
          <p:cNvSpPr txBox="1"/>
          <p:nvPr/>
        </p:nvSpPr>
        <p:spPr>
          <a:xfrm>
            <a:off x="2183251" y="3730626"/>
            <a:ext cx="7600829" cy="3916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tx1"/>
                </a:solidFill>
                <a:cs typeface="+mn-ea"/>
                <a:sym typeface="+mn-lt"/>
              </a:rPr>
              <a:t>主题：初窥</a:t>
            </a:r>
            <a:r>
              <a:rPr lang="en-US" altLang="zh-CN" sz="1800" dirty="0">
                <a:solidFill>
                  <a:schemeClr val="tx1"/>
                </a:solidFill>
                <a:cs typeface="+mn-ea"/>
                <a:sym typeface="+mn-lt"/>
              </a:rPr>
              <a:t>MCU</a:t>
            </a:r>
            <a:r>
              <a:rPr lang="zh-CN" altLang="en-US" sz="1800">
                <a:solidFill>
                  <a:schemeClr val="tx1"/>
                </a:solidFill>
                <a:cs typeface="+mn-ea"/>
                <a:sym typeface="+mn-lt"/>
              </a:rPr>
              <a:t>体系结构 </a:t>
            </a:r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048584" name="powerpoint template design by DAJU_PPT正版来源小红书大橘PPT微信DAJU_PPT请勿抄袭搬运！盗版必究！"/>
          <p:cNvSpPr txBox="1"/>
          <p:nvPr/>
        </p:nvSpPr>
        <p:spPr>
          <a:xfrm>
            <a:off x="822240" y="2532584"/>
            <a:ext cx="10547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spc="-150" dirty="0">
                <a:cs typeface="+mn-ea"/>
                <a:sym typeface="+mn-lt"/>
              </a:rPr>
              <a:t>——   </a:t>
            </a:r>
            <a:r>
              <a:rPr lang="en-US" altLang="zh-CN" sz="4000" b="1" spc="300" dirty="0">
                <a:cs typeface="+mn-ea"/>
                <a:sym typeface="+mn-lt"/>
              </a:rPr>
              <a:t>Undefined Behavior Lounge </a:t>
            </a:r>
            <a:r>
              <a:rPr lang="en-US" altLang="zh-CN" sz="3200" b="1" spc="-150" dirty="0">
                <a:cs typeface="+mn-ea"/>
                <a:sym typeface="+mn-lt"/>
              </a:rPr>
              <a:t>——</a:t>
            </a:r>
          </a:p>
        </p:txBody>
      </p:sp>
      <p:sp>
        <p:nvSpPr>
          <p:cNvPr id="1048585" name="powerpoint template design by DAJU_PPT正版来源小红书大橘PPT微信DAJU_PPT请勿抄袭搬运！盗版必究！"/>
          <p:cNvSpPr txBox="1"/>
          <p:nvPr/>
        </p:nvSpPr>
        <p:spPr>
          <a:xfrm>
            <a:off x="2407920" y="6249873"/>
            <a:ext cx="737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艰苦朴素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实事求是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严格要求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勇于探索 </a:t>
            </a:r>
            <a:r>
              <a:rPr lang="en-US" altLang="zh-CN" sz="1400" spc="-15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</a:p>
        </p:txBody>
      </p:sp>
      <p:sp>
        <p:nvSpPr>
          <p:cNvPr id="1048586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87" name="powerpoint template design by DAJU_PPT正版来源小红书大橘PPT微信DAJU_PPT请勿抄袭搬运！盗版必究！"/>
          <p:cNvSpPr/>
          <p:nvPr/>
        </p:nvSpPr>
        <p:spPr>
          <a:xfrm>
            <a:off x="0" y="5842000"/>
            <a:ext cx="12192000" cy="1016000"/>
          </a:xfrm>
          <a:custGeom>
            <a:avLst/>
            <a:gdLst>
              <a:gd name="connsiteX0" fmla="*/ 6096000 w 12192000"/>
              <a:gd name="connsiteY0" fmla="*/ 0 h 1016000"/>
              <a:gd name="connsiteX1" fmla="*/ 11872101 w 12192000"/>
              <a:gd name="connsiteY1" fmla="*/ 363047 h 1016000"/>
              <a:gd name="connsiteX2" fmla="*/ 12192000 w 12192000"/>
              <a:gd name="connsiteY2" fmla="*/ 416457 h 1016000"/>
              <a:gd name="connsiteX3" fmla="*/ 12192000 w 12192000"/>
              <a:gd name="connsiteY3" fmla="*/ 1016000 h 1016000"/>
              <a:gd name="connsiteX4" fmla="*/ 0 w 12192000"/>
              <a:gd name="connsiteY4" fmla="*/ 1016000 h 1016000"/>
              <a:gd name="connsiteX5" fmla="*/ 0 w 12192000"/>
              <a:gd name="connsiteY5" fmla="*/ 416457 h 1016000"/>
              <a:gd name="connsiteX6" fmla="*/ 319900 w 12192000"/>
              <a:gd name="connsiteY6" fmla="*/ 363047 h 1016000"/>
              <a:gd name="connsiteX7" fmla="*/ 6096000 w 12192000"/>
              <a:gd name="connsiteY7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16000">
                <a:moveTo>
                  <a:pt x="6096000" y="0"/>
                </a:moveTo>
                <a:cubicBezTo>
                  <a:pt x="8351708" y="0"/>
                  <a:pt x="10393868" y="138738"/>
                  <a:pt x="11872101" y="363047"/>
                </a:cubicBezTo>
                <a:lnTo>
                  <a:pt x="12192000" y="416457"/>
                </a:lnTo>
                <a:lnTo>
                  <a:pt x="12192000" y="1016000"/>
                </a:lnTo>
                <a:lnTo>
                  <a:pt x="0" y="1016000"/>
                </a:lnTo>
                <a:lnTo>
                  <a:pt x="0" y="416457"/>
                </a:lnTo>
                <a:lnTo>
                  <a:pt x="319900" y="363047"/>
                </a:lnTo>
                <a:cubicBezTo>
                  <a:pt x="1798133" y="138738"/>
                  <a:pt x="3840293" y="0"/>
                  <a:pt x="6096000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CB8BC57-28DF-4CD6-0014-AF3F84EBDFA3}"/>
              </a:ext>
            </a:extLst>
          </p:cNvPr>
          <p:cNvSpPr txBox="1"/>
          <p:nvPr/>
        </p:nvSpPr>
        <p:spPr>
          <a:xfrm>
            <a:off x="2183251" y="4394687"/>
            <a:ext cx="7600829" cy="3916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/>
            <a:r>
              <a:rPr lang="zh-CN" altLang="en-US" sz="1800">
                <a:solidFill>
                  <a:schemeClr val="tx1"/>
                </a:solidFill>
                <a:cs typeface="+mn-ea"/>
                <a:sym typeface="+mn-lt"/>
              </a:rPr>
              <a:t>分享人：严森</a:t>
            </a:r>
            <a:endParaRPr lang="zh-CN" altLang="en-US" sz="1800" dirty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408ABB-686D-D24D-3024-91BBCF5290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9" y="325217"/>
            <a:ext cx="4868532" cy="158672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/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4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</a:rPr>
              <a:t>       选题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</a:rPr>
              <a:t>介绍</a:t>
            </a:r>
            <a:endParaRPr lang="zh-CN" altLang="en-US" sz="2400" b="1" kern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</a:endParaRPr>
          </a:p>
        </p:txBody>
      </p:sp>
      <p:sp>
        <p:nvSpPr>
          <p:cNvPr id="1048718" name="powerpoint template design by DAJU_PPT正版来源小红书大橘PPT微信DAJU_PPT请勿抄袭搬运！盗版必究！"/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/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研究内容</a:t>
            </a:r>
            <a:endParaRPr lang="en-US" altLang="zh-CN" sz="2000" kern="0" dirty="0">
              <a:solidFill>
                <a:schemeClr val="bg1">
                  <a:alpha val="7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145766" name="powerpoint template design by DAJU_PPT正版来源小红书大橘PPT微信DAJU_PPT请勿抄袭搬运！盗版必究！"/>
          <p:cNvCxnSpPr/>
          <p:nvPr userDrawn="1"/>
        </p:nvCxnSpPr>
        <p:spPr>
          <a:xfrm>
            <a:off x="744110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/>
          <p:cNvSpPr>
            <a:spLocks noGrp="1"/>
          </p:cNvSpPr>
          <p:nvPr>
            <p:ph type="title"/>
          </p:nvPr>
        </p:nvSpPr>
        <p:spPr>
          <a:xfrm>
            <a:off x="442913" y="873125"/>
            <a:ext cx="4869867" cy="403225"/>
          </a:xfrm>
        </p:spPr>
        <p:txBody>
          <a:bodyPr/>
          <a:lstStyle/>
          <a:p>
            <a:r>
              <a:rPr lang="zh-CN" altLang="en-US" dirty="0"/>
              <a:t>选题</a:t>
            </a:r>
            <a:r>
              <a:rPr lang="zh-CN" altLang="en-US" dirty="0">
                <a:solidFill>
                  <a:srgbClr val="122E66"/>
                </a:solidFill>
              </a:rPr>
              <a:t>介绍</a:t>
            </a:r>
            <a:endParaRPr dirty="0">
              <a:solidFill>
                <a:srgbClr val="122E66"/>
              </a:solidFill>
            </a:endParaRPr>
          </a:p>
        </p:txBody>
      </p:sp>
      <p:cxnSp>
        <p:nvCxnSpPr>
          <p:cNvPr id="3145767" name="powerpoint template design by DAJU_PPT正版来源小红书大橘PPT微信DAJU_PPT请勿抄袭搬运！盗版必究！"/>
          <p:cNvCxnSpPr/>
          <p:nvPr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/>
          <p:cNvSpPr txBox="1"/>
          <p:nvPr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cxnSp>
        <p:nvCxnSpPr>
          <p:cNvPr id="3145768" name="powerpoint template design by DAJU_PPT正版来源小红书大橘PPT微信DAJU_PPT请勿抄袭搬运！盗版必究！"/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2A53F3A-691D-DC26-3797-7BCA5CD92899}"/>
              </a:ext>
            </a:extLst>
          </p:cNvPr>
          <p:cNvSpPr txBox="1"/>
          <p:nvPr/>
        </p:nvSpPr>
        <p:spPr>
          <a:xfrm>
            <a:off x="778511" y="1745059"/>
            <a:ext cx="10644864" cy="3366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</a:rPr>
              <a:t>什么是</a:t>
            </a:r>
            <a:r>
              <a:rPr lang="en-US" altLang="zh-CN" b="1" dirty="0">
                <a:solidFill>
                  <a:srgbClr val="122E66"/>
                </a:solidFill>
              </a:rPr>
              <a:t>MCU</a:t>
            </a:r>
            <a:r>
              <a:rPr lang="zh-CN" altLang="en-US" b="1" dirty="0">
                <a:solidFill>
                  <a:srgbClr val="122E66"/>
                </a:solidFill>
              </a:rPr>
              <a:t>：</a:t>
            </a:r>
            <a:r>
              <a:rPr lang="en-US" altLang="zh-CN" dirty="0"/>
              <a:t>MCU</a:t>
            </a:r>
            <a:r>
              <a:rPr lang="zh-CN" altLang="en-US" dirty="0"/>
              <a:t>是把</a:t>
            </a:r>
            <a:r>
              <a:rPr lang="en-US" altLang="zh-CN" dirty="0"/>
              <a:t>CPU</a:t>
            </a:r>
            <a:r>
              <a:rPr lang="zh-CN" altLang="en-US" dirty="0"/>
              <a:t>、内存和外设集成在一颗芯片里，相比手机等设备内的</a:t>
            </a:r>
            <a:r>
              <a:rPr lang="en-US" altLang="zh-CN" dirty="0"/>
              <a:t>SoC</a:t>
            </a:r>
            <a:r>
              <a:rPr lang="zh-CN" altLang="en-US" dirty="0"/>
              <a:t>来说更加简单，</a:t>
            </a:r>
            <a:r>
              <a:rPr lang="en-US" altLang="zh-CN" dirty="0"/>
              <a:t>MCU</a:t>
            </a:r>
            <a:r>
              <a:rPr lang="zh-CN" altLang="en-US" dirty="0"/>
              <a:t>专为简单控制任务而设计。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122E66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122E66"/>
                </a:solidFill>
              </a:rPr>
              <a:t>MCU</a:t>
            </a:r>
            <a:r>
              <a:rPr lang="zh-CN" altLang="en-US" b="1" dirty="0">
                <a:solidFill>
                  <a:srgbClr val="122E66"/>
                </a:solidFill>
              </a:rPr>
              <a:t>选型</a:t>
            </a:r>
            <a:r>
              <a:rPr lang="zh-CN" altLang="en-US" b="1" dirty="0"/>
              <a:t>：</a:t>
            </a:r>
            <a:r>
              <a:rPr lang="en-US" altLang="zh-CN" dirty="0"/>
              <a:t>STM32F103C8T6 </a:t>
            </a:r>
            <a:r>
              <a:rPr lang="zh-CN" altLang="en-US" dirty="0"/>
              <a:t>是一款由意法半导体公司（</a:t>
            </a:r>
            <a:r>
              <a:rPr lang="en-US" altLang="zh-CN" dirty="0"/>
              <a:t>ST</a:t>
            </a:r>
            <a:r>
              <a:rPr lang="zh-CN" altLang="en-US" dirty="0"/>
              <a:t>）推出的基于</a:t>
            </a:r>
            <a:r>
              <a:rPr lang="en-US" altLang="zh-CN" dirty="0"/>
              <a:t>Cortex-M3</a:t>
            </a:r>
            <a:r>
              <a:rPr lang="zh-CN" altLang="en-US" dirty="0"/>
              <a:t>内核的</a:t>
            </a:r>
            <a:r>
              <a:rPr lang="en-US" altLang="zh-CN" dirty="0"/>
              <a:t>32</a:t>
            </a:r>
            <a:r>
              <a:rPr lang="zh-CN" altLang="en-US" dirty="0"/>
              <a:t>位微控制器，硬件采用</a:t>
            </a:r>
            <a:r>
              <a:rPr lang="en-US" altLang="zh-CN" dirty="0"/>
              <a:t>LQFP48</a:t>
            </a:r>
            <a:r>
              <a:rPr lang="zh-CN" altLang="en-US" dirty="0"/>
              <a:t>封装。（老人小孩都爱玩🔥🔥🔥）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</a:rPr>
              <a:t>和一生一芯的关联</a:t>
            </a:r>
            <a:r>
              <a:rPr lang="zh-CN" altLang="en-US" b="1" dirty="0"/>
              <a:t>：</a:t>
            </a:r>
            <a:r>
              <a:rPr lang="zh-CN" altLang="en-US" dirty="0"/>
              <a:t> 虽然</a:t>
            </a:r>
            <a:r>
              <a:rPr lang="en-US" altLang="zh-CN" dirty="0"/>
              <a:t>STM32</a:t>
            </a:r>
            <a:r>
              <a:rPr lang="zh-CN" altLang="en-US" dirty="0"/>
              <a:t>被认为是一款</a:t>
            </a:r>
            <a:r>
              <a:rPr lang="en-US" altLang="zh-CN" dirty="0"/>
              <a:t>MCU</a:t>
            </a:r>
            <a:r>
              <a:rPr lang="zh-CN" altLang="en-US" dirty="0"/>
              <a:t>，但是其架构和</a:t>
            </a:r>
            <a:r>
              <a:rPr lang="en-US" altLang="zh-CN" dirty="0" err="1"/>
              <a:t>ysyxSoC</a:t>
            </a:r>
            <a:r>
              <a:rPr lang="zh-CN" altLang="en-US" dirty="0"/>
              <a:t>有很多共通之处，在认识其他架构时，可以间接学习到</a:t>
            </a:r>
            <a:r>
              <a:rPr lang="en-US" altLang="zh-CN" dirty="0"/>
              <a:t>SoC</a:t>
            </a:r>
            <a:r>
              <a:rPr lang="zh-CN" altLang="en-US" dirty="0"/>
              <a:t>的一些设计思路。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/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/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/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/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/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/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/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424740" y="82217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目录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5C0BB3-F474-77AE-4D9B-71E49163F850}"/>
              </a:ext>
            </a:extLst>
          </p:cNvPr>
          <p:cNvSpPr txBox="1"/>
          <p:nvPr/>
        </p:nvSpPr>
        <p:spPr>
          <a:xfrm>
            <a:off x="778510" y="1846920"/>
            <a:ext cx="10645552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b="1" dirty="0">
                <a:solidFill>
                  <a:srgbClr val="122E66"/>
                </a:solidFill>
                <a:latin typeface="微软雅黑"/>
                <a:ea typeface="微软雅黑"/>
              </a:rPr>
              <a:t>STM32F1</a:t>
            </a:r>
            <a:r>
              <a:rPr lang="zh-CN" altLang="en-US" sz="2800" b="1" dirty="0">
                <a:solidFill>
                  <a:srgbClr val="122E66"/>
                </a:solidFill>
                <a:latin typeface="微软雅黑"/>
                <a:ea typeface="微软雅黑"/>
              </a:rPr>
              <a:t>组成部分</a:t>
            </a:r>
            <a:endParaRPr lang="en-US" altLang="zh-CN" sz="2800" b="1" dirty="0">
              <a:solidFill>
                <a:srgbClr val="122E66"/>
              </a:solidFill>
              <a:latin typeface="微软雅黑"/>
              <a:ea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总线与总线矩阵</a:t>
            </a:r>
            <a:endParaRPr lang="en-US" altLang="zh-CN" sz="2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122E66"/>
                </a:solidFill>
              </a:rPr>
              <a:t>映像空间</a:t>
            </a:r>
            <a:endParaRPr lang="en-US" altLang="zh-CN" sz="2800" b="1" dirty="0">
              <a:solidFill>
                <a:srgbClr val="122E66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122E66"/>
                </a:solidFill>
              </a:rPr>
              <a:t>时钟树</a:t>
            </a:r>
            <a:endParaRPr lang="en-US" altLang="zh-CN" sz="2800" b="1" dirty="0">
              <a:solidFill>
                <a:srgbClr val="122E66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122E66"/>
                </a:solidFill>
              </a:rPr>
              <a:t>基础外设介绍：</a:t>
            </a:r>
            <a:r>
              <a:rPr lang="en-US" altLang="zh-CN" sz="2800" b="1" dirty="0">
                <a:solidFill>
                  <a:srgbClr val="122E66"/>
                </a:solidFill>
              </a:rPr>
              <a:t>GPIO</a:t>
            </a:r>
            <a:endParaRPr lang="en-US" altLang="zh-CN" sz="2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3DBC-896E-053B-EBF7-25D6277A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010D6D8-E102-3D1C-98D8-B51E8F1B733D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1F1141C-14D6-5A7E-E142-5D80DF494630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52706B6-9D3A-68E1-4182-806DC4C430FC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65304AF-0F13-0847-EE5A-E135C721CE0C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9F9126C-FE4D-BCC6-4237-0974E17E030F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F9BCC14-DF7E-93B7-ECDC-DCAE7136AF6C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45A2A7DA-8119-3166-F0C3-9314A68AC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FA1A8C5-F2F2-171D-0210-889E46514B16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D7695DB-843F-CC7E-739B-C960AB46ED87}"/>
              </a:ext>
            </a:extLst>
          </p:cNvPr>
          <p:cNvSpPr/>
          <p:nvPr/>
        </p:nvSpPr>
        <p:spPr>
          <a:xfrm>
            <a:off x="424740" y="822170"/>
            <a:ext cx="3555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STM32F1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组成部分概述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8F00BF-800D-BB53-C2AF-73F57E8793B9}"/>
              </a:ext>
            </a:extLst>
          </p:cNvPr>
          <p:cNvSpPr txBox="1"/>
          <p:nvPr/>
        </p:nvSpPr>
        <p:spPr>
          <a:xfrm>
            <a:off x="389254" y="1477268"/>
            <a:ext cx="7162345" cy="461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需要用到的手册：</a:t>
            </a:r>
            <a:r>
              <a:rPr lang="zh-CN" altLang="en-US" dirty="0">
                <a:latin typeface="微软雅黑"/>
              </a:rPr>
              <a:t>架构参考手册、数据手册、标准库</a:t>
            </a:r>
            <a:r>
              <a:rPr lang="en-US" altLang="zh-CN" dirty="0">
                <a:latin typeface="微软雅黑"/>
              </a:rPr>
              <a:t>/HAL</a:t>
            </a:r>
            <a:r>
              <a:rPr lang="zh-CN" altLang="en-US" dirty="0">
                <a:latin typeface="微软雅黑"/>
              </a:rPr>
              <a:t>库手册、代码注释</a:t>
            </a:r>
            <a:endParaRPr lang="en-US" altLang="zh-CN" dirty="0">
              <a:latin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微软雅黑"/>
              <a:ea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</a:rPr>
              <a:t>主要组成部分</a:t>
            </a:r>
            <a:endParaRPr lang="en-US" altLang="zh-CN" b="1" dirty="0">
              <a:solidFill>
                <a:srgbClr val="122E66"/>
              </a:solidFill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核心单元：</a:t>
            </a:r>
            <a:r>
              <a:rPr lang="en-US" altLang="zh-CN" dirty="0"/>
              <a:t>CPU</a:t>
            </a:r>
            <a:r>
              <a:rPr lang="zh-CN" altLang="en-US" dirty="0"/>
              <a:t> 、电源</a:t>
            </a:r>
            <a:r>
              <a:rPr lang="en-US" altLang="zh-CN" dirty="0"/>
              <a:t>PWR </a:t>
            </a:r>
            <a:r>
              <a:rPr lang="zh-CN" altLang="en-US" dirty="0"/>
              <a:t>、中断</a:t>
            </a:r>
            <a:r>
              <a:rPr lang="en-US" altLang="zh-CN" dirty="0"/>
              <a:t>NVIC 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rgbClr val="122E66"/>
                </a:solidFill>
              </a:rPr>
              <a:t>GPIO</a:t>
            </a:r>
            <a:r>
              <a:rPr lang="zh-CN" altLang="en-US" dirty="0"/>
              <a:t>、</a:t>
            </a:r>
            <a:r>
              <a:rPr lang="en-US" altLang="zh-CN" dirty="0"/>
              <a:t>DMA</a:t>
            </a:r>
            <a:r>
              <a:rPr lang="zh-CN" altLang="en-US" dirty="0"/>
              <a:t>、看门狗</a:t>
            </a:r>
            <a:r>
              <a:rPr lang="en-US" altLang="zh-CN" dirty="0"/>
              <a:t>WDG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模拟单元：</a:t>
            </a:r>
            <a:r>
              <a:rPr lang="en-US" altLang="zh-CN" dirty="0"/>
              <a:t>DAC</a:t>
            </a:r>
            <a:r>
              <a:rPr lang="zh-CN" altLang="en-US" dirty="0"/>
              <a:t>、</a:t>
            </a:r>
            <a:r>
              <a:rPr lang="en-US" altLang="zh-CN" dirty="0"/>
              <a:t>ADC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定时器：</a:t>
            </a:r>
            <a:r>
              <a:rPr lang="en-US" altLang="zh-CN" dirty="0" err="1"/>
              <a:t>Systick</a:t>
            </a:r>
            <a:r>
              <a:rPr lang="zh-CN" altLang="en-US" dirty="0"/>
              <a:t>、</a:t>
            </a:r>
            <a:r>
              <a:rPr lang="en-US" altLang="zh-CN" dirty="0"/>
              <a:t>TIM</a:t>
            </a:r>
            <a:r>
              <a:rPr lang="zh-CN" altLang="en-US" dirty="0"/>
              <a:t>、</a:t>
            </a:r>
            <a:r>
              <a:rPr lang="en-US" altLang="zh-CN" dirty="0"/>
              <a:t>RTC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通信协议：</a:t>
            </a:r>
            <a:r>
              <a:rPr lang="en-US" altLang="zh-CN" dirty="0"/>
              <a:t>UART</a:t>
            </a:r>
            <a:r>
              <a:rPr lang="zh-CN" altLang="en-US" dirty="0"/>
              <a:t>、</a:t>
            </a:r>
            <a:r>
              <a:rPr lang="en-US" altLang="zh-CN" dirty="0"/>
              <a:t>IIC</a:t>
            </a:r>
            <a:r>
              <a:rPr lang="zh-CN" altLang="en-US" dirty="0"/>
              <a:t>、</a:t>
            </a:r>
            <a:r>
              <a:rPr lang="en-US" altLang="zh-CN" dirty="0"/>
              <a:t>SPI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存储器：片内</a:t>
            </a:r>
            <a:r>
              <a:rPr lang="en-US" altLang="zh-CN" dirty="0"/>
              <a:t>ROM</a:t>
            </a:r>
            <a:r>
              <a:rPr lang="zh-CN" altLang="en-US" dirty="0"/>
              <a:t>（</a:t>
            </a:r>
            <a:r>
              <a:rPr lang="en-US" altLang="zh-CN" dirty="0"/>
              <a:t>FLASH</a:t>
            </a:r>
            <a:r>
              <a:rPr lang="zh-CN" altLang="en-US" dirty="0"/>
              <a:t>）、片内</a:t>
            </a:r>
            <a:r>
              <a:rPr lang="en-US" altLang="zh-CN" dirty="0"/>
              <a:t>RAM</a:t>
            </a:r>
            <a:r>
              <a:rPr lang="zh-CN" altLang="en-US" dirty="0"/>
              <a:t>（</a:t>
            </a:r>
            <a:r>
              <a:rPr lang="en-US" altLang="zh-CN" dirty="0"/>
              <a:t>SRAM</a:t>
            </a:r>
            <a:r>
              <a:rPr lang="zh-CN" altLang="en-US" dirty="0"/>
              <a:t>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通路：</a:t>
            </a:r>
            <a:r>
              <a:rPr lang="zh-CN" altLang="en-US" b="1" dirty="0">
                <a:solidFill>
                  <a:srgbClr val="122E66"/>
                </a:solidFill>
              </a:rPr>
              <a:t>时钟树、总线、总线矩阵</a:t>
            </a:r>
            <a:endParaRPr lang="en-US" altLang="zh-CN" b="1" dirty="0">
              <a:solidFill>
                <a:srgbClr val="122E66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14F26D-B8A3-EB76-1CF3-678DE86B2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299" y="1477268"/>
            <a:ext cx="4328205" cy="337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1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2F5C6-07E0-F2E3-F324-7D9D03E6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0B4122A-4809-730B-2360-FBFD4236C332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D5A1100-D1B6-66AA-85CB-8F823723E8D5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FA368F0-D26E-A4B8-FF0F-1AF711C385F4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F3A961A-B93B-B5E3-9BC2-8B6F0D4FD331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0D6DA05-997A-FFFF-497C-6865A16080AD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57E1330-E1E8-DFDC-67C9-4D814333B0C5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0539E376-0818-B867-1D14-17939AEC8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081BCA26-01EB-B28C-ED4F-2F7CB27144AC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C71E94B-6B42-149C-6A21-A545156AE82E}"/>
              </a:ext>
            </a:extLst>
          </p:cNvPr>
          <p:cNvSpPr/>
          <p:nvPr/>
        </p:nvSpPr>
        <p:spPr>
          <a:xfrm>
            <a:off x="424740" y="822170"/>
            <a:ext cx="3427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总线与总线矩阵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Intro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E9CDD5-DD2A-D5DE-D137-4CA445EA24DB}"/>
              </a:ext>
            </a:extLst>
          </p:cNvPr>
          <p:cNvSpPr txBox="1"/>
          <p:nvPr/>
        </p:nvSpPr>
        <p:spPr>
          <a:xfrm>
            <a:off x="318067" y="1477268"/>
            <a:ext cx="732733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</a:t>
            </a:r>
            <a:r>
              <a:rPr lang="en-US" altLang="zh-CN" b="1" dirty="0" err="1">
                <a:solidFill>
                  <a:srgbClr val="122E66"/>
                </a:solidFill>
                <a:latin typeface="微软雅黑"/>
                <a:ea typeface="微软雅黑"/>
              </a:rPr>
              <a:t>ysyxSoC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的关联：</a:t>
            </a:r>
            <a:r>
              <a:rPr lang="zh-CN" altLang="en-US" dirty="0">
                <a:latin typeface="微软雅黑"/>
                <a:ea typeface="微软雅黑"/>
              </a:rPr>
              <a:t>你可以在</a:t>
            </a:r>
            <a:r>
              <a:rPr lang="en-US" altLang="zh-CN" dirty="0" err="1">
                <a:latin typeface="微软雅黑"/>
                <a:ea typeface="微软雅黑"/>
              </a:rPr>
              <a:t>ysyxSoC</a:t>
            </a:r>
            <a:r>
              <a:rPr lang="zh-CN" altLang="en-US" dirty="0">
                <a:latin typeface="微软雅黑"/>
                <a:ea typeface="微软雅黑"/>
              </a:rPr>
              <a:t>源码中看到</a:t>
            </a:r>
            <a:r>
              <a:rPr lang="en-US" altLang="zh-CN" dirty="0">
                <a:latin typeface="微软雅黑"/>
                <a:ea typeface="微软雅黑"/>
              </a:rPr>
              <a:t>APB</a:t>
            </a:r>
            <a:r>
              <a:rPr lang="zh-CN" altLang="en-US" dirty="0">
                <a:latin typeface="微软雅黑"/>
                <a:ea typeface="微软雅黑"/>
              </a:rPr>
              <a:t>等总线，以及</a:t>
            </a:r>
            <a:r>
              <a:rPr lang="en-US" altLang="zh-CN" dirty="0">
                <a:latin typeface="微软雅黑"/>
                <a:ea typeface="微软雅黑"/>
              </a:rPr>
              <a:t>Flash</a:t>
            </a:r>
            <a:r>
              <a:rPr lang="zh-CN" altLang="en-US" dirty="0">
                <a:latin typeface="微软雅黑"/>
                <a:ea typeface="微软雅黑"/>
              </a:rPr>
              <a:t>、</a:t>
            </a:r>
            <a:r>
              <a:rPr lang="en-US" altLang="zh-CN" dirty="0">
                <a:latin typeface="微软雅黑"/>
                <a:ea typeface="微软雅黑"/>
              </a:rPr>
              <a:t>SRAM</a:t>
            </a:r>
            <a:r>
              <a:rPr lang="zh-CN" altLang="en-US" dirty="0">
                <a:latin typeface="微软雅黑"/>
                <a:ea typeface="微软雅黑"/>
              </a:rPr>
              <a:t>等设备的连接。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A0C940-B34F-F055-56F6-8CF16F152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401" y="1477268"/>
            <a:ext cx="4290104" cy="337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0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E2FD-12B8-5EBB-A92F-5FC426C5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BF147BD-9F68-4EE3-553C-69B802F841E8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6064607-DC92-74F7-1099-A5AC9377BCE0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79D6247-4328-929F-7066-DDCCF429397B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E81F3B0-4910-9765-ED56-B36BD25A7210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F445690-1CF6-CCB3-4AD6-E1F4C255855C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ACEFA85-1591-3326-32AA-4DC3D8E94254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0891FC62-63E6-6B7B-7E54-499E6D8EB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F111553-9668-7301-D470-35FDC1B72282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0ECF773-EAE8-5960-37BA-1DC5EF3CAD73}"/>
              </a:ext>
            </a:extLst>
          </p:cNvPr>
          <p:cNvSpPr/>
          <p:nvPr/>
        </p:nvSpPr>
        <p:spPr>
          <a:xfrm>
            <a:off x="424740" y="822170"/>
            <a:ext cx="32832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总线与总线矩阵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总线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F46DAE-13FC-14F3-C161-24D1D0BFC582}"/>
              </a:ext>
            </a:extLst>
          </p:cNvPr>
          <p:cNvSpPr txBox="1"/>
          <p:nvPr/>
        </p:nvSpPr>
        <p:spPr>
          <a:xfrm>
            <a:off x="318067" y="1477268"/>
            <a:ext cx="7327334" cy="544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Reference 2.1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CPU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相连的总线：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122E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latin typeface="微软雅黑"/>
              </a:rPr>
              <a:t>ICode</a:t>
            </a:r>
            <a:r>
              <a:rPr lang="zh-CN" altLang="en-US" dirty="0">
                <a:latin typeface="微软雅黑"/>
              </a:rPr>
              <a:t>：直接访问</a:t>
            </a:r>
            <a:r>
              <a:rPr lang="zh-CN" altLang="en-US" dirty="0">
                <a:solidFill>
                  <a:srgbClr val="C00000"/>
                </a:solidFill>
                <a:latin typeface="微软雅黑"/>
              </a:rPr>
              <a:t>片内</a:t>
            </a:r>
            <a:r>
              <a:rPr lang="en-US" altLang="zh-CN" dirty="0">
                <a:solidFill>
                  <a:srgbClr val="C00000"/>
                </a:solidFill>
                <a:latin typeface="微软雅黑"/>
              </a:rPr>
              <a:t>FLASH</a:t>
            </a:r>
            <a:r>
              <a:rPr lang="zh-CN" altLang="en-US" dirty="0">
                <a:solidFill>
                  <a:srgbClr val="C00000"/>
                </a:solidFill>
                <a:latin typeface="微软雅黑"/>
              </a:rPr>
              <a:t>的指令接口</a:t>
            </a:r>
            <a:endParaRPr lang="en-US" altLang="zh-CN" dirty="0">
              <a:solidFill>
                <a:srgbClr val="C00000"/>
              </a:solidFill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latin typeface="微软雅黑"/>
              </a:rPr>
              <a:t>DCode</a:t>
            </a:r>
            <a:r>
              <a:rPr lang="zh-CN" altLang="en-US" dirty="0">
                <a:latin typeface="微软雅黑"/>
              </a:rPr>
              <a:t>：通过总线矩阵访问</a:t>
            </a:r>
            <a:r>
              <a:rPr lang="zh-CN" altLang="en-US" dirty="0">
                <a:solidFill>
                  <a:srgbClr val="C00000"/>
                </a:solidFill>
                <a:latin typeface="微软雅黑"/>
              </a:rPr>
              <a:t>片内</a:t>
            </a:r>
            <a:r>
              <a:rPr lang="en-US" altLang="zh-CN" dirty="0">
                <a:solidFill>
                  <a:srgbClr val="C00000"/>
                </a:solidFill>
                <a:latin typeface="微软雅黑"/>
              </a:rPr>
              <a:t>FLASH</a:t>
            </a:r>
            <a:r>
              <a:rPr lang="zh-CN" altLang="en-US" dirty="0">
                <a:solidFill>
                  <a:srgbClr val="C00000"/>
                </a:solidFill>
                <a:latin typeface="微软雅黑"/>
              </a:rPr>
              <a:t>的数据接口</a:t>
            </a:r>
            <a:endParaRPr lang="en-US" altLang="zh-CN" dirty="0">
              <a:solidFill>
                <a:srgbClr val="C00000"/>
              </a:solidFill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/>
              </a:rPr>
              <a:t>System</a:t>
            </a:r>
            <a:r>
              <a:rPr lang="zh-CN" altLang="en-US" dirty="0">
                <a:latin typeface="微软雅黑"/>
              </a:rPr>
              <a:t>：通过总线矩阵访问</a:t>
            </a:r>
            <a:r>
              <a:rPr lang="en-US" altLang="zh-CN" dirty="0">
                <a:solidFill>
                  <a:srgbClr val="C00000"/>
                </a:solidFill>
                <a:latin typeface="微软雅黑"/>
              </a:rPr>
              <a:t>FLASH</a:t>
            </a:r>
            <a:r>
              <a:rPr lang="zh-CN" altLang="en-US" dirty="0">
                <a:solidFill>
                  <a:srgbClr val="C00000"/>
                </a:solidFill>
                <a:latin typeface="微软雅黑"/>
              </a:rPr>
              <a:t>以外的资源</a:t>
            </a:r>
            <a:endParaRPr lang="en-US" altLang="zh-CN" b="1" dirty="0">
              <a:solidFill>
                <a:srgbClr val="C00000"/>
              </a:solidFill>
              <a:latin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与外设相连的总线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AHB</a:t>
            </a:r>
            <a:r>
              <a:rPr lang="zh-CN" altLang="en-US" dirty="0"/>
              <a:t>总线：高性能，可连接高速外设（外设时钟频率 </a:t>
            </a:r>
            <a:r>
              <a:rPr lang="en-US" altLang="zh-CN" dirty="0"/>
              <a:t>&lt;=</a:t>
            </a:r>
            <a:r>
              <a:rPr lang="zh-CN" altLang="en-US" dirty="0"/>
              <a:t> </a:t>
            </a:r>
            <a:r>
              <a:rPr lang="en-US" altLang="zh-CN" dirty="0"/>
              <a:t>72MHz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APB2</a:t>
            </a:r>
            <a:r>
              <a:rPr lang="zh-CN" altLang="en-US" dirty="0"/>
              <a:t>总线：可连接中速外设（外设时钟频率 </a:t>
            </a:r>
            <a:r>
              <a:rPr lang="en-US" altLang="zh-CN" dirty="0"/>
              <a:t>&lt;= 72MHz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APB1</a:t>
            </a:r>
            <a:r>
              <a:rPr lang="zh-CN" altLang="en-US" dirty="0"/>
              <a:t>总线：可连接低速外设（外设时钟频率 </a:t>
            </a:r>
            <a:r>
              <a:rPr lang="en-US" altLang="zh-CN" dirty="0"/>
              <a:t>&lt;=</a:t>
            </a:r>
            <a:r>
              <a:rPr lang="zh-CN" altLang="en-US" dirty="0"/>
              <a:t> </a:t>
            </a:r>
            <a:r>
              <a:rPr lang="en-US" altLang="zh-CN" dirty="0"/>
              <a:t>36MHz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122E66"/>
                </a:solidFill>
              </a:rPr>
              <a:t>AHB-APB</a:t>
            </a:r>
            <a:r>
              <a:rPr lang="zh-CN" altLang="en-US" b="1" dirty="0">
                <a:solidFill>
                  <a:srgbClr val="122E66"/>
                </a:solidFill>
              </a:rPr>
              <a:t>转接桥的部分作用：</a:t>
            </a:r>
            <a:endParaRPr lang="en-US" altLang="zh-CN" b="1" dirty="0">
              <a:solidFill>
                <a:srgbClr val="122E66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隔离时钟域：使用分频器，将</a:t>
            </a:r>
            <a:r>
              <a:rPr lang="en-US" altLang="zh-CN" dirty="0"/>
              <a:t>AHB</a:t>
            </a:r>
            <a:r>
              <a:rPr lang="zh-CN" altLang="en-US" dirty="0"/>
              <a:t>时钟降低为</a:t>
            </a:r>
            <a:r>
              <a:rPr lang="en-US" altLang="zh-CN" dirty="0"/>
              <a:t>APB1</a:t>
            </a:r>
            <a:r>
              <a:rPr lang="zh-CN" altLang="en-US" dirty="0"/>
              <a:t>和</a:t>
            </a:r>
            <a:r>
              <a:rPr lang="en-US" altLang="zh-CN" dirty="0"/>
              <a:t>APB2</a:t>
            </a:r>
            <a:r>
              <a:rPr lang="zh-CN" altLang="en-US" dirty="0"/>
              <a:t>时钟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协议转换：将</a:t>
            </a:r>
            <a:r>
              <a:rPr lang="en-US" altLang="zh-CN" dirty="0"/>
              <a:t>AHB</a:t>
            </a:r>
            <a:r>
              <a:rPr lang="zh-CN" altLang="en-US" dirty="0"/>
              <a:t>协议和</a:t>
            </a:r>
            <a:r>
              <a:rPr lang="en-US" altLang="zh-CN" dirty="0"/>
              <a:t>APB</a:t>
            </a:r>
            <a:r>
              <a:rPr lang="zh-CN" altLang="en-US" dirty="0"/>
              <a:t>协议进行转换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FF3935-D42D-9286-CEC0-62320813B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401" y="1477268"/>
            <a:ext cx="4290104" cy="337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3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B2D0-8EF4-D6DC-CF05-18EA718B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6D2EAB8-D6A8-2547-4523-1D72413F3FF5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644EC16-8A71-6795-50F2-96D281FDC35A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804789B-2EBB-8FF1-454F-45A1B977941D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FBA768C-0261-9C69-2F58-364AD6099528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A225A3A-FB50-1BDC-4AE8-A0F347F3318E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99015B0-9B51-F018-49DF-1DCA2C6ABB75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99EA6022-9410-4767-AA80-1C2155B10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04850D0-F311-86DB-751E-2889B11F53F1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CD30964-8B66-0E5D-8395-EE46A526DD25}"/>
              </a:ext>
            </a:extLst>
          </p:cNvPr>
          <p:cNvSpPr/>
          <p:nvPr/>
        </p:nvSpPr>
        <p:spPr>
          <a:xfrm>
            <a:off x="424740" y="822170"/>
            <a:ext cx="38988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总线与总线矩阵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总线矩阵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1B1F27-AF17-8FAC-737D-371D3C0D3B88}"/>
              </a:ext>
            </a:extLst>
          </p:cNvPr>
          <p:cNvSpPr txBox="1"/>
          <p:nvPr/>
        </p:nvSpPr>
        <p:spPr>
          <a:xfrm>
            <a:off x="318067" y="1477268"/>
            <a:ext cx="7327334" cy="25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</a:rPr>
              <a:t>总线矩阵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122E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可以理解为</a:t>
            </a:r>
            <a:r>
              <a:rPr lang="zh-CN" altLang="en-US" dirty="0">
                <a:latin typeface="微软雅黑"/>
              </a:rPr>
              <a:t>总线仲裁器</a:t>
            </a:r>
            <a:r>
              <a:rPr lang="en-US" altLang="zh-CN" dirty="0">
                <a:latin typeface="微软雅黑"/>
              </a:rPr>
              <a:t>Arbiter+</a:t>
            </a:r>
            <a:r>
              <a:rPr lang="zh-CN" altLang="en-US" dirty="0">
                <a:latin typeface="微软雅黑"/>
              </a:rPr>
              <a:t>交叉开关</a:t>
            </a:r>
            <a:r>
              <a:rPr lang="en-US" altLang="zh-CN" dirty="0" err="1">
                <a:latin typeface="微软雅黑"/>
              </a:rPr>
              <a:t>Xbar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若同时出现多个访问请求，</a:t>
            </a:r>
            <a:r>
              <a:rPr lang="en-US" altLang="zh-CN" dirty="0">
                <a:latin typeface="微软雅黑"/>
              </a:rPr>
              <a:t>Arbiter</a:t>
            </a:r>
            <a:r>
              <a:rPr lang="zh-CN" altLang="en-US" dirty="0">
                <a:latin typeface="微软雅黑"/>
              </a:rPr>
              <a:t>可通过一定的规则（</a:t>
            </a:r>
            <a:r>
              <a:rPr lang="en-US" altLang="zh-CN" dirty="0">
                <a:solidFill>
                  <a:srgbClr val="C52816"/>
                </a:solidFill>
                <a:latin typeface="微软雅黑"/>
              </a:rPr>
              <a:t>RR</a:t>
            </a:r>
            <a:r>
              <a:rPr lang="zh-CN" altLang="en-US" dirty="0">
                <a:latin typeface="微软雅黑"/>
              </a:rPr>
              <a:t>、</a:t>
            </a:r>
            <a:r>
              <a:rPr lang="en-US" altLang="zh-CN" dirty="0">
                <a:latin typeface="微软雅黑"/>
              </a:rPr>
              <a:t>FIFO</a:t>
            </a:r>
            <a:r>
              <a:rPr lang="zh-CN" altLang="en-US" dirty="0">
                <a:latin typeface="微软雅黑"/>
              </a:rPr>
              <a:t>等）来判决出胜者优先访问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对于当前访问的请求，需要根据请求地址，来判断需要连接到哪一个输出端口，并操作</a:t>
            </a:r>
            <a:r>
              <a:rPr lang="en-US" altLang="zh-CN" dirty="0" err="1">
                <a:latin typeface="微软雅黑"/>
              </a:rPr>
              <a:t>XBar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F8F39C-5C19-86D6-76F2-4C4B876D4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401" y="1477268"/>
            <a:ext cx="4290104" cy="337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0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01FBE-E024-A495-878F-68566773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4F018B8-3385-E2FB-5CE0-786191829474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3755647-CB40-BE12-11ED-883AE9CEE1B7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72D2199-9C8F-5AE8-A069-713D6A67ABD7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43686F3-1B45-56EC-E655-7FBFF0581385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BAFBC69-11FA-72A6-B2F5-8F2BEDF30200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DC9D427-1179-800F-6576-EDF504702D20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41EFB58E-FE22-8B6C-CBC6-6466020F6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B6DC047-8B76-76CD-DBE0-CBB9C7494C4F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BCA25AA7-9D3D-790A-02A5-73E90286C848}"/>
              </a:ext>
            </a:extLst>
          </p:cNvPr>
          <p:cNvSpPr/>
          <p:nvPr/>
        </p:nvSpPr>
        <p:spPr>
          <a:xfrm>
            <a:off x="424740" y="822170"/>
            <a:ext cx="25043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映像空间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Intro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7EE60F-B7A6-C272-FB2B-030017057DC6}"/>
              </a:ext>
            </a:extLst>
          </p:cNvPr>
          <p:cNvSpPr txBox="1"/>
          <p:nvPr/>
        </p:nvSpPr>
        <p:spPr>
          <a:xfrm>
            <a:off x="778510" y="1454208"/>
            <a:ext cx="4606290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与</a:t>
            </a:r>
            <a:r>
              <a:rPr lang="en-US" altLang="zh-CN" b="1" dirty="0" err="1">
                <a:solidFill>
                  <a:srgbClr val="122E66"/>
                </a:solidFill>
                <a:latin typeface="微软雅黑"/>
                <a:ea typeface="微软雅黑"/>
              </a:rPr>
              <a:t>ysyxSoC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的关联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都</a:t>
            </a:r>
            <a:r>
              <a:rPr lang="zh-CN" altLang="en-US" dirty="0">
                <a:latin typeface="微软雅黑"/>
              </a:rPr>
              <a:t>支持</a:t>
            </a:r>
            <a:r>
              <a:rPr lang="en-US" altLang="zh-CN" dirty="0">
                <a:latin typeface="微软雅黑"/>
              </a:rPr>
              <a:t>MMIO</a:t>
            </a:r>
            <a:r>
              <a:rPr lang="zh-CN" altLang="en-US" dirty="0">
                <a:latin typeface="微软雅黑"/>
              </a:rPr>
              <a:t>映射。</a:t>
            </a:r>
            <a:endParaRPr lang="en-US" altLang="zh-CN" dirty="0">
              <a:latin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chemeClr val="accent1"/>
                </a:solidFill>
                <a:latin typeface="微软雅黑"/>
              </a:rPr>
              <a:t>MMIO</a:t>
            </a:r>
            <a:r>
              <a:rPr lang="zh-CN" altLang="en-US" b="1" dirty="0">
                <a:solidFill>
                  <a:schemeClr val="accent1"/>
                </a:solidFill>
                <a:latin typeface="微软雅黑"/>
              </a:rPr>
              <a:t>映射：</a:t>
            </a:r>
            <a:endParaRPr lang="en-US" altLang="zh-CN" b="1" dirty="0">
              <a:solidFill>
                <a:schemeClr val="accent1"/>
              </a:solidFill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/>
              </a:rPr>
              <a:t>Memory-Mapped-Input-Output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可以统一访问外设与访存的操作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基于总线矩阵实现</a:t>
            </a:r>
            <a:endParaRPr lang="en-US" altLang="zh-CN" dirty="0">
              <a:latin typeface="微软雅黑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C3BEFD-522F-0E29-3E59-C1D4D9B5B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590" y="1408812"/>
            <a:ext cx="2805549" cy="48588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635044-ED5A-2B57-9464-8A49D9BB2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5929" y="1744502"/>
            <a:ext cx="3315714" cy="409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7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CD73-55F0-1253-AE2C-E3ADA6B6B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D9C1E5D-0D97-714C-A39D-7B48ADE2ECC0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525CA31-8C80-AFA6-A60D-8955C35A89BD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98FB68D-28D9-6A7F-FB85-C20686DD950B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7B1B0DB-E56E-34E9-E36A-B22D963BB7B6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33AAA57-2F90-32BB-FD89-0B2039A10C44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A14DF4A-AECB-EF06-04C1-1684F6F0E3A2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6B696E19-11D6-653B-D4C5-35002E8C6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456CE7D-0766-737C-2F8D-D167C799DBE4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19A1D41-64D9-61F0-B37B-1694B48F02D8}"/>
              </a:ext>
            </a:extLst>
          </p:cNvPr>
          <p:cNvSpPr/>
          <p:nvPr/>
        </p:nvSpPr>
        <p:spPr>
          <a:xfrm>
            <a:off x="424740" y="822170"/>
            <a:ext cx="23599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映像空间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概述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BA1AB2-687B-5483-AAB2-60A4B4F7924C}"/>
              </a:ext>
            </a:extLst>
          </p:cNvPr>
          <p:cNvSpPr txBox="1"/>
          <p:nvPr/>
        </p:nvSpPr>
        <p:spPr>
          <a:xfrm>
            <a:off x="778510" y="1454208"/>
            <a:ext cx="5665930" cy="5444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122E66"/>
                </a:solidFill>
                <a:latin typeface="微软雅黑"/>
                <a:ea typeface="微软雅黑"/>
              </a:rPr>
              <a:t>Reference 2.2/2.3/2.4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四大区域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可以粗略地将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STM32F1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的空间分为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个部分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/>
              </a:rPr>
              <a:t>RAM</a:t>
            </a:r>
            <a:r>
              <a:rPr lang="zh-CN" altLang="en-US" dirty="0">
                <a:latin typeface="微软雅黑"/>
              </a:rPr>
              <a:t>映射区（</a:t>
            </a:r>
            <a:r>
              <a:rPr lang="en-US" altLang="zh-CN" dirty="0">
                <a:latin typeface="微软雅黑"/>
              </a:rPr>
              <a:t>SRAM</a:t>
            </a:r>
            <a:r>
              <a:rPr lang="zh-CN" altLang="en-US" dirty="0">
                <a:latin typeface="微软雅黑"/>
              </a:rPr>
              <a:t>区）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/>
              </a:rPr>
              <a:t>ROM</a:t>
            </a:r>
            <a:r>
              <a:rPr lang="zh-CN" altLang="en-US" dirty="0">
                <a:latin typeface="微软雅黑"/>
              </a:rPr>
              <a:t>映射区（系统</a:t>
            </a:r>
            <a:r>
              <a:rPr lang="en-US" altLang="zh-CN" dirty="0">
                <a:latin typeface="微软雅黑"/>
              </a:rPr>
              <a:t>FLASH</a:t>
            </a:r>
            <a:r>
              <a:rPr lang="zh-CN" altLang="en-US" dirty="0">
                <a:latin typeface="微软雅黑"/>
              </a:rPr>
              <a:t>区</a:t>
            </a:r>
            <a:r>
              <a:rPr lang="en-US" altLang="zh-CN" dirty="0">
                <a:latin typeface="微软雅黑"/>
              </a:rPr>
              <a:t>/</a:t>
            </a:r>
            <a:r>
              <a:rPr lang="zh-CN" altLang="en-US" dirty="0">
                <a:latin typeface="微软雅黑"/>
              </a:rPr>
              <a:t>主</a:t>
            </a:r>
            <a:r>
              <a:rPr lang="en-US" altLang="zh-CN" dirty="0">
                <a:latin typeface="微软雅黑"/>
              </a:rPr>
              <a:t>FLASH</a:t>
            </a:r>
            <a:r>
              <a:rPr lang="zh-CN" altLang="en-US" dirty="0">
                <a:latin typeface="微软雅黑"/>
              </a:rPr>
              <a:t>区）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外设映射区（外设区</a:t>
            </a:r>
            <a:r>
              <a:rPr lang="en-US" altLang="zh-CN" dirty="0">
                <a:latin typeface="微软雅黑"/>
              </a:rPr>
              <a:t>/</a:t>
            </a:r>
            <a:r>
              <a:rPr lang="zh-CN" altLang="en-US" dirty="0">
                <a:latin typeface="微软雅黑"/>
              </a:rPr>
              <a:t>核外设区）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/>
              </a:rPr>
              <a:t>BOOT</a:t>
            </a:r>
            <a:r>
              <a:rPr lang="zh-CN" altLang="en-US" dirty="0">
                <a:latin typeface="微软雅黑"/>
              </a:rPr>
              <a:t>区</a:t>
            </a:r>
            <a:endParaRPr lang="en-US" altLang="zh-CN" dirty="0">
              <a:latin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BOOT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区的部分作用：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122E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S</a:t>
            </a:r>
            <a:r>
              <a:rPr lang="en-US" altLang="zh-CN" dirty="0">
                <a:latin typeface="微软雅黑"/>
                <a:ea typeface="微软雅黑"/>
              </a:rPr>
              <a:t>TM32F1</a:t>
            </a:r>
            <a:r>
              <a:rPr lang="zh-CN" altLang="en-US" dirty="0">
                <a:latin typeface="微软雅黑"/>
                <a:ea typeface="微软雅黑"/>
              </a:rPr>
              <a:t>上电从</a:t>
            </a:r>
            <a:r>
              <a:rPr lang="en-US" altLang="zh-CN" dirty="0">
                <a:latin typeface="微软雅黑"/>
                <a:ea typeface="微软雅黑"/>
              </a:rPr>
              <a:t>0x00000000</a:t>
            </a:r>
            <a:r>
              <a:rPr lang="zh-CN" altLang="en-US" dirty="0">
                <a:latin typeface="微软雅黑"/>
                <a:ea typeface="微软雅黑"/>
              </a:rPr>
              <a:t>开始执行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当总线矩阵的</a:t>
            </a:r>
            <a:r>
              <a:rPr lang="en-US" altLang="zh-CN" dirty="0" err="1">
                <a:latin typeface="微软雅黑"/>
              </a:rPr>
              <a:t>XBar</a:t>
            </a:r>
            <a:r>
              <a:rPr lang="zh-CN" altLang="en-US" dirty="0">
                <a:latin typeface="微软雅黑"/>
              </a:rPr>
              <a:t>发现要访问</a:t>
            </a:r>
            <a:r>
              <a:rPr lang="en-US" altLang="zh-CN" dirty="0">
                <a:latin typeface="微软雅黑"/>
              </a:rPr>
              <a:t>BOOT</a:t>
            </a:r>
            <a:r>
              <a:rPr lang="zh-CN" altLang="en-US" dirty="0">
                <a:latin typeface="微软雅黑"/>
              </a:rPr>
              <a:t>区时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首先，会依据</a:t>
            </a:r>
            <a:r>
              <a:rPr lang="en-US" altLang="zh-CN" dirty="0">
                <a:solidFill>
                  <a:srgbClr val="C00000"/>
                </a:solidFill>
              </a:rPr>
              <a:t>BOOT[1:0]</a:t>
            </a:r>
            <a:r>
              <a:rPr lang="zh-CN" altLang="en-US" dirty="0">
                <a:solidFill>
                  <a:srgbClr val="C00000"/>
                </a:solidFill>
              </a:rPr>
              <a:t>引脚</a:t>
            </a:r>
            <a:r>
              <a:rPr lang="zh-CN" altLang="en-US" dirty="0">
                <a:latin typeface="微软雅黑"/>
              </a:rPr>
              <a:t>进行选择（即，主</a:t>
            </a:r>
            <a:r>
              <a:rPr lang="en-US" altLang="zh-CN" dirty="0">
                <a:latin typeface="微软雅黑"/>
              </a:rPr>
              <a:t>FLASH</a:t>
            </a:r>
            <a:r>
              <a:rPr lang="zh-CN" altLang="en-US" dirty="0">
                <a:latin typeface="微软雅黑"/>
              </a:rPr>
              <a:t>、系统</a:t>
            </a:r>
            <a:r>
              <a:rPr lang="en-US" altLang="zh-CN" dirty="0">
                <a:latin typeface="微软雅黑"/>
              </a:rPr>
              <a:t>FLASH</a:t>
            </a:r>
            <a:r>
              <a:rPr lang="zh-CN" altLang="en-US" dirty="0">
                <a:latin typeface="微软雅黑"/>
              </a:rPr>
              <a:t>、</a:t>
            </a:r>
            <a:r>
              <a:rPr lang="en-US" altLang="zh-CN" dirty="0">
                <a:latin typeface="微软雅黑"/>
              </a:rPr>
              <a:t>SRAM</a:t>
            </a:r>
            <a:r>
              <a:rPr lang="zh-CN" altLang="en-US" dirty="0">
                <a:latin typeface="微软雅黑"/>
              </a:rPr>
              <a:t>三选一）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然后，转接到对应地址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545EF80-3761-5921-B7E0-52D241AD5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439" y="732986"/>
            <a:ext cx="4969051" cy="613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54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D0135-D5BB-16AE-C40F-6E69FE6C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53CE9CC-807F-80B2-D8E6-D13C81E9A46D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EAA93BA-8103-7577-6079-FC07E79D5D92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84C72BA-DD57-506B-556A-575C706424CC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ED86B68-7827-0A12-CE45-A37C9E7198A8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D27B0E3-4D1F-C1E4-541B-9CE4550031FC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274FB84-44DD-93D1-B511-9CE1CD9ABAC5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5293F7C1-A34B-F246-1882-76C33C7EB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199658B-0956-EA8F-30A9-71F53F0DDDF2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8072FDE-62B3-5749-9E26-278E402B4079}"/>
              </a:ext>
            </a:extLst>
          </p:cNvPr>
          <p:cNvSpPr/>
          <p:nvPr/>
        </p:nvSpPr>
        <p:spPr>
          <a:xfrm>
            <a:off x="424740" y="822170"/>
            <a:ext cx="23599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映像空间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概述</a:t>
            </a:r>
            <a:endParaRPr lang="zh-CN" altLang="en-US" dirty="0"/>
          </a:p>
        </p:txBody>
      </p:sp>
      <p:pic>
        <p:nvPicPr>
          <p:cNvPr id="2050" name="Picture 2" descr="在这里插入图片描述">
            <a:extLst>
              <a:ext uri="{FF2B5EF4-FFF2-40B4-BE49-F238E27FC236}">
                <a16:creationId xmlns:a16="http://schemas.microsoft.com/office/drawing/2014/main" id="{5324E2FD-6096-C9FF-BE31-54D6FE07F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847" y="1600201"/>
            <a:ext cx="9394976" cy="377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2B96995D-1B4F-2898-3EF6-CBBE52BC9ADA}"/>
              </a:ext>
            </a:extLst>
          </p:cNvPr>
          <p:cNvSpPr/>
          <p:nvPr/>
        </p:nvSpPr>
        <p:spPr>
          <a:xfrm>
            <a:off x="2711450" y="2336800"/>
            <a:ext cx="1917700" cy="13779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12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D4C0B-C3F8-70C1-5683-EA80E5D0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2D1FA48-64A1-6900-6B0D-9BD74CE96916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01DDD79-76C8-2FBF-2F8B-30479F5EFDE0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06DAFB13-2A2C-C3E5-FBD3-DA09406B7FBC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3AD3FD6-69BB-0362-47C5-F046B4A0F4AD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17B6762-3F7A-1306-CF0D-F9BE72211BBD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2425F79-7F9E-1024-DD0B-238A28D30FD5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C9613861-7FF4-F26B-DEF6-BE3E24739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5483724-5899-7894-4721-939C71E725A4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B8AA9496-ED11-3430-5562-9E22FB3019D2}"/>
              </a:ext>
            </a:extLst>
          </p:cNvPr>
          <p:cNvSpPr/>
          <p:nvPr/>
        </p:nvSpPr>
        <p:spPr>
          <a:xfrm>
            <a:off x="424740" y="822170"/>
            <a:ext cx="2196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时钟树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Intro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DECEE3-4B5E-1CFE-2C70-94D679200CF2}"/>
              </a:ext>
            </a:extLst>
          </p:cNvPr>
          <p:cNvSpPr txBox="1"/>
          <p:nvPr/>
        </p:nvSpPr>
        <p:spPr>
          <a:xfrm>
            <a:off x="778510" y="1846920"/>
            <a:ext cx="10645552" cy="2120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</a:t>
            </a:r>
            <a:r>
              <a:rPr lang="en-US" altLang="zh-CN" b="1" dirty="0">
                <a:solidFill>
                  <a:srgbClr val="122E66"/>
                </a:solidFill>
                <a:latin typeface="微软雅黑"/>
                <a:ea typeface="微软雅黑"/>
              </a:rPr>
              <a:t>YSYX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的关联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122E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latin typeface="微软雅黑"/>
              </a:rPr>
              <a:t>ysyx</a:t>
            </a:r>
            <a:r>
              <a:rPr lang="zh-CN" altLang="en-US" dirty="0">
                <a:latin typeface="微软雅黑"/>
              </a:rPr>
              <a:t>的学习中，常常只会考虑一根时钟线的情况，这是因为我们暂时不需要关注时钟频率对不同设备的影响（只专注于当前设备的开发）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但是对于一个多总线系统来说，不同总线和设备有不同的工作频率，因此我们需要一个时钟树，以满足每个总线和设备的时钟要求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9322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59A9-C3BA-4158-DD7A-51377D2D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3EB861A-7B48-5DE5-860A-CA37A59E9EF0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81BF0F1-BB22-D7D3-78AE-79E8CC3E65B6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328A7B3-DAD4-F3F7-6D60-CC76F5C3CAF9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6FD8492-8AE5-16A8-902A-4862B929C767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6620A18-F463-271E-0A38-E6BE0E4786C0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B6DEFF2-627E-5FDF-7957-2D7B828A550E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26F126D9-C9A9-9ED7-F086-0D41FD998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8F2E0EC-9D03-E27C-A0BA-F8E1A6FEC0B0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EC0A333-BA7F-D619-A8C0-0F4601050525}"/>
              </a:ext>
            </a:extLst>
          </p:cNvPr>
          <p:cNvSpPr/>
          <p:nvPr/>
        </p:nvSpPr>
        <p:spPr>
          <a:xfrm>
            <a:off x="424740" y="822170"/>
            <a:ext cx="20521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时钟树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概述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73FB7A-758A-CB2F-1AB8-789EADCFDFE4}"/>
              </a:ext>
            </a:extLst>
          </p:cNvPr>
          <p:cNvSpPr txBox="1"/>
          <p:nvPr/>
        </p:nvSpPr>
        <p:spPr>
          <a:xfrm>
            <a:off x="778510" y="1846920"/>
            <a:ext cx="9679940" cy="25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产生时钟频率的手段：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122E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通过外部时钟源产生时钟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通过内部时钟源（晶振）产生时钟</a:t>
            </a:r>
            <a:endParaRPr lang="en-US" altLang="zh-CN" dirty="0">
              <a:latin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</a:rPr>
              <a:t>控制时钟频率的手段：</a:t>
            </a:r>
            <a:endParaRPr lang="en-US" altLang="zh-CN" b="1" dirty="0">
              <a:solidFill>
                <a:srgbClr val="122E66"/>
              </a:solidFill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通过倍频器（</a:t>
            </a:r>
            <a:r>
              <a:rPr lang="en-US" altLang="zh-CN" dirty="0">
                <a:latin typeface="微软雅黑"/>
              </a:rPr>
              <a:t>PLL/</a:t>
            </a:r>
            <a:r>
              <a:rPr lang="zh-CN" altLang="en-US" dirty="0">
                <a:latin typeface="微软雅黑"/>
              </a:rPr>
              <a:t>定时器的倍频器）来控制频率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通过分频器（预分频器）来控制频率</a:t>
            </a:r>
            <a:endParaRPr lang="en-US" altLang="zh-CN" dirty="0">
              <a:latin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7601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0C75-AC9D-A30F-9FFB-4A0B07741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6700BC5-5DBE-87E8-2D21-77BB1764A59C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C77A1A7-8C42-57F4-5203-76F5B2224506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B04FE83-BDDE-CD23-A9AC-DAAC876B0DE8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513CE3B-5248-2CAD-8EF0-8946EF3A8320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0DAB00E-7975-7938-D22E-D8DD236D7909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E90D40E-6065-A287-AF01-44C91594A3FC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09E5B989-9817-BC12-A4E0-A02250F15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1961E0A-685A-44EA-13D6-5AB2227009D1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4BB61D7-3B32-D0AD-07C7-56C7C439C24B}"/>
              </a:ext>
            </a:extLst>
          </p:cNvPr>
          <p:cNvSpPr/>
          <p:nvPr/>
        </p:nvSpPr>
        <p:spPr>
          <a:xfrm>
            <a:off x="424740" y="822170"/>
            <a:ext cx="2379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时钟树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整体图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105176-FC6B-106D-776E-78C50553F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430" y="1272966"/>
            <a:ext cx="7565570" cy="549613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9BF6D71-C99D-9C69-B560-5AC9597E1550}"/>
              </a:ext>
            </a:extLst>
          </p:cNvPr>
          <p:cNvSpPr txBox="1"/>
          <p:nvPr/>
        </p:nvSpPr>
        <p:spPr>
          <a:xfrm>
            <a:off x="285642" y="1670050"/>
            <a:ext cx="43407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</a:rPr>
              <a:t>时钟源：</a:t>
            </a:r>
            <a:endParaRPr lang="en-US" altLang="zh-CN" b="1" dirty="0">
              <a:solidFill>
                <a:srgbClr val="122E66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LowSpeedExternalClock</a:t>
            </a:r>
            <a:r>
              <a:rPr lang="zh-CN" altLang="en-US" dirty="0"/>
              <a:t>（外部）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HighSpeedExternalClock</a:t>
            </a:r>
            <a:r>
              <a:rPr lang="en-US" altLang="zh-CN" dirty="0"/>
              <a:t> </a:t>
            </a:r>
            <a:r>
              <a:rPr lang="zh-CN" altLang="en-US" dirty="0"/>
              <a:t>（外部）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LowSpeedInternalClock</a:t>
            </a:r>
            <a:r>
              <a:rPr lang="en-US" altLang="zh-CN" dirty="0"/>
              <a:t> </a:t>
            </a:r>
            <a:r>
              <a:rPr lang="zh-CN" altLang="en-US" dirty="0"/>
              <a:t>（内部）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HighSpeedInternalClock</a:t>
            </a:r>
            <a:r>
              <a:rPr lang="en-US" altLang="zh-CN" dirty="0"/>
              <a:t> </a:t>
            </a:r>
            <a:r>
              <a:rPr lang="zh-CN" altLang="en-US" dirty="0"/>
              <a:t>（内部）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</a:rPr>
              <a:t>常用时钟：</a:t>
            </a:r>
            <a:endParaRPr lang="en-US" altLang="zh-CN" b="1" dirty="0">
              <a:solidFill>
                <a:srgbClr val="122E66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SYSCLK</a:t>
            </a:r>
            <a:r>
              <a:rPr lang="zh-CN" altLang="en-US" dirty="0"/>
              <a:t>（系统时钟）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HCLK</a:t>
            </a:r>
            <a:r>
              <a:rPr lang="zh-CN" altLang="en-US" dirty="0"/>
              <a:t>（</a:t>
            </a:r>
            <a:r>
              <a:rPr lang="en-US" altLang="zh-CN" dirty="0"/>
              <a:t>AHB</a:t>
            </a:r>
            <a:r>
              <a:rPr lang="zh-CN" altLang="en-US" dirty="0"/>
              <a:t>时钟）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PCLK1</a:t>
            </a:r>
            <a:r>
              <a:rPr lang="zh-CN" altLang="en-US" dirty="0"/>
              <a:t>（</a:t>
            </a:r>
            <a:r>
              <a:rPr lang="en-US" altLang="zh-CN" dirty="0"/>
              <a:t>APB1</a:t>
            </a:r>
            <a:r>
              <a:rPr lang="zh-CN" altLang="en-US" dirty="0"/>
              <a:t>时钟）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PCLK2</a:t>
            </a:r>
            <a:r>
              <a:rPr lang="zh-CN" altLang="en-US" dirty="0"/>
              <a:t>（</a:t>
            </a:r>
            <a:r>
              <a:rPr lang="en-US" altLang="zh-CN" dirty="0"/>
              <a:t>APB2</a:t>
            </a:r>
            <a:r>
              <a:rPr lang="zh-CN" altLang="en-US" dirty="0"/>
              <a:t>时钟）</a:t>
            </a:r>
          </a:p>
        </p:txBody>
      </p:sp>
    </p:spTree>
    <p:extLst>
      <p:ext uri="{BB962C8B-B14F-4D97-AF65-F5344CB8AC3E}">
        <p14:creationId xmlns:p14="http://schemas.microsoft.com/office/powerpoint/2010/main" val="350546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39419-242E-5697-E97A-21F1F948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7F8D853-6210-41C6-F596-19D2EE34A62F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EBA9D07-9007-CB53-507B-6D867A27A4C2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3D22372-744A-A439-1767-04382C94F68C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D47FE77-A249-CE0D-2704-65F85B544FDC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0E52CB5-9A62-EB86-07CA-586D27EAF813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0EAA44D-D7AA-FF20-7AA9-CA506D4F7C7F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9EE3443C-6631-5BB7-68F0-E5F43546F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F9720C9-6110-CEA8-CA00-F810D8AF77F3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8818564-C71F-BB1F-F40A-115DB07F46C9}"/>
              </a:ext>
            </a:extLst>
          </p:cNvPr>
          <p:cNvSpPr/>
          <p:nvPr/>
        </p:nvSpPr>
        <p:spPr>
          <a:xfrm>
            <a:off x="424740" y="822170"/>
            <a:ext cx="2680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GPIO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介绍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Intro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B259E2-6DBE-0503-56B5-DCEA9790D617}"/>
              </a:ext>
            </a:extLst>
          </p:cNvPr>
          <p:cNvSpPr txBox="1"/>
          <p:nvPr/>
        </p:nvSpPr>
        <p:spPr>
          <a:xfrm>
            <a:off x="424740" y="1608690"/>
            <a:ext cx="11287362" cy="461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122E66"/>
                </a:solidFill>
                <a:latin typeface="微软雅黑"/>
              </a:rPr>
              <a:t>YSYX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</a:rPr>
              <a:t>讲义上的</a:t>
            </a:r>
            <a:r>
              <a:rPr lang="en-US" altLang="zh-CN" b="1" dirty="0">
                <a:solidFill>
                  <a:srgbClr val="122E66"/>
                </a:solidFill>
                <a:latin typeface="微软雅黑"/>
              </a:rPr>
              <a:t>GPIO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122E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挂载于</a:t>
            </a:r>
            <a:r>
              <a:rPr lang="en-US" altLang="zh-CN" dirty="0">
                <a:latin typeface="微软雅黑"/>
                <a:ea typeface="微软雅黑"/>
              </a:rPr>
              <a:t>APB</a:t>
            </a:r>
            <a:r>
              <a:rPr lang="zh-CN" altLang="en-US" dirty="0">
                <a:latin typeface="微软雅黑"/>
                <a:ea typeface="微软雅黑"/>
              </a:rPr>
              <a:t>总线上</a:t>
            </a:r>
            <a:endParaRPr lang="en-US" altLang="zh-CN" dirty="0"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本质是一根连接芯片内外的导线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需要</a:t>
            </a:r>
            <a:r>
              <a:rPr lang="en-US" altLang="zh-CN" dirty="0"/>
              <a:t>GPIO</a:t>
            </a:r>
            <a:r>
              <a:rPr lang="zh-CN" altLang="en-US" dirty="0"/>
              <a:t>控制器来为</a:t>
            </a:r>
            <a:r>
              <a:rPr lang="en-US" altLang="zh-CN" dirty="0"/>
              <a:t>GPIO</a:t>
            </a:r>
            <a:r>
              <a:rPr lang="zh-CN" altLang="en-US" dirty="0"/>
              <a:t>的功能提供设备寄存器的抽象，只需要用电路上的寄存器来存放相应引脚的状态即可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122E66"/>
                </a:solidFill>
                <a:latin typeface="微软雅黑"/>
                <a:ea typeface="微软雅黑"/>
              </a:rPr>
              <a:t>STM32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的</a:t>
            </a:r>
            <a:r>
              <a:rPr lang="en-US" altLang="zh-CN" b="1" dirty="0">
                <a:solidFill>
                  <a:srgbClr val="122E66"/>
                </a:solidFill>
                <a:latin typeface="微软雅黑"/>
                <a:ea typeface="微软雅黑"/>
              </a:rPr>
              <a:t>GPIO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/>
                <a:ea typeface="微软雅黑"/>
              </a:rPr>
              <a:t>GPIO</a:t>
            </a:r>
            <a:r>
              <a:rPr lang="zh-CN" altLang="en-US" dirty="0">
                <a:latin typeface="微软雅黑"/>
                <a:ea typeface="微软雅黑"/>
              </a:rPr>
              <a:t>具有五套系统：</a:t>
            </a:r>
            <a:r>
              <a:rPr lang="en-US" altLang="zh-CN" dirty="0">
                <a:latin typeface="微软雅黑"/>
                <a:ea typeface="微软雅黑"/>
              </a:rPr>
              <a:t>GPIOA-GPIOE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每一套系统都需要实现：</a:t>
            </a:r>
            <a:r>
              <a:rPr lang="en-US" altLang="zh-CN" dirty="0">
                <a:latin typeface="微软雅黑"/>
                <a:ea typeface="微软雅黑"/>
              </a:rPr>
              <a:t>4</a:t>
            </a:r>
            <a:r>
              <a:rPr lang="zh-CN" altLang="en-US" dirty="0">
                <a:latin typeface="微软雅黑"/>
                <a:ea typeface="微软雅黑"/>
              </a:rPr>
              <a:t>种输入模式、</a:t>
            </a:r>
            <a:r>
              <a:rPr lang="en-US" altLang="zh-CN" dirty="0">
                <a:latin typeface="微软雅黑"/>
                <a:ea typeface="微软雅黑"/>
              </a:rPr>
              <a:t>3</a:t>
            </a:r>
            <a:r>
              <a:rPr lang="zh-CN" altLang="en-US" dirty="0">
                <a:latin typeface="微软雅黑"/>
                <a:ea typeface="微软雅黑"/>
              </a:rPr>
              <a:t>种输出模式、若干复用模式</a:t>
            </a:r>
            <a:endParaRPr lang="en-US" altLang="zh-CN" dirty="0"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这导致</a:t>
            </a:r>
            <a:r>
              <a:rPr lang="en-US" altLang="zh-CN" dirty="0">
                <a:latin typeface="微软雅黑"/>
                <a:ea typeface="微软雅黑"/>
              </a:rPr>
              <a:t>GPIO</a:t>
            </a:r>
            <a:r>
              <a:rPr lang="zh-CN" altLang="en-US" dirty="0">
                <a:latin typeface="微软雅黑"/>
                <a:ea typeface="微软雅黑"/>
              </a:rPr>
              <a:t>的硬件比较复杂（特别是和我一样之前没有接触过硬件的同学😭</a:t>
            </a:r>
            <a:r>
              <a:rPr lang="zh-CN" altLang="en-US" dirty="0">
                <a:latin typeface="微软雅黑"/>
              </a:rPr>
              <a:t>😭</a:t>
            </a:r>
            <a:r>
              <a:rPr lang="zh-CN" altLang="en-US" dirty="0">
                <a:latin typeface="微软雅黑"/>
                <a:ea typeface="微软雅黑"/>
              </a:rPr>
              <a:t>）</a:t>
            </a:r>
            <a:endParaRPr lang="en-US" altLang="zh-CN" dirty="0"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kumimoji="0" lang="zh-CN" alt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23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28BF2-5547-F38E-3603-4EEFE804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E0810D3-F9CF-869B-94BA-459AC402BEDF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8CB26E7-7155-194B-C634-0A15F45A830F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872BB2B-E19D-7F2C-1D41-42B4C7A1F2DE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27835F9-92C3-5579-E224-A4738C71D9A2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1387A63-B2DB-3A2A-2941-3E5261A6A29A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C813A3F-2301-528B-9A68-920FD1561D1B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D62AD7E1-A215-53D9-0405-47C897D29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08A0FFD-D2AE-AAA0-6B99-8E0876750C1C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542B42B-8E87-DC18-3F78-19DC92A89773}"/>
              </a:ext>
            </a:extLst>
          </p:cNvPr>
          <p:cNvSpPr/>
          <p:nvPr/>
        </p:nvSpPr>
        <p:spPr>
          <a:xfrm>
            <a:off x="424740" y="822170"/>
            <a:ext cx="2536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GPIO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介绍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概述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216B69-03BB-72CE-FA93-2510A4AE97CF}"/>
              </a:ext>
            </a:extLst>
          </p:cNvPr>
          <p:cNvSpPr txBox="1"/>
          <p:nvPr/>
        </p:nvSpPr>
        <p:spPr>
          <a:xfrm>
            <a:off x="424740" y="1608690"/>
            <a:ext cx="4841240" cy="25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122E66"/>
                </a:solidFill>
                <a:latin typeface="微软雅黑"/>
              </a:rPr>
              <a:t>Reference 8.1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122E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GPIO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模式：</a:t>
            </a:r>
            <a:endParaRPr lang="en-US" altLang="zh-CN" b="1" dirty="0">
              <a:solidFill>
                <a:srgbClr val="122E66"/>
              </a:solidFill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输入模式（</a:t>
            </a:r>
            <a:r>
              <a:rPr lang="zh-CN" altLang="en-US" dirty="0">
                <a:latin typeface="微软雅黑"/>
                <a:ea typeface="微软雅黑"/>
              </a:rPr>
              <a:t>模拟、上拉、下拉</a:t>
            </a:r>
            <a:r>
              <a:rPr lang="zh-CN" altLang="en-US" dirty="0">
                <a:latin typeface="微软雅黑"/>
              </a:rPr>
              <a:t>、浮空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输出模式（推挽、</a:t>
            </a:r>
            <a:r>
              <a:rPr lang="zh-CN" altLang="en-US" dirty="0">
                <a:latin typeface="微软雅黑"/>
              </a:rPr>
              <a:t>开漏、高阻）</a:t>
            </a:r>
            <a:endParaRPr lang="en-US" altLang="zh-CN" dirty="0"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复用输入模式（由外设接管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GPIO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复用输出模式</a:t>
            </a:r>
            <a:r>
              <a:rPr lang="zh-CN" altLang="en-US" dirty="0">
                <a:latin typeface="微软雅黑"/>
              </a:rPr>
              <a:t>（由外设接管</a:t>
            </a:r>
            <a:r>
              <a:rPr lang="en-US" altLang="zh-CN" dirty="0">
                <a:latin typeface="微软雅黑"/>
              </a:rPr>
              <a:t>GPIO</a:t>
            </a:r>
            <a:r>
              <a:rPr lang="zh-CN" altLang="en-US" dirty="0">
                <a:latin typeface="微软雅黑"/>
              </a:rPr>
              <a:t>）</a:t>
            </a:r>
            <a:endParaRPr lang="en-US" altLang="zh-CN" dirty="0">
              <a:latin typeface="微软雅黑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E22113-C59C-0E96-ED95-4821A7885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130" y="1407655"/>
            <a:ext cx="6800284" cy="390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16C2-5806-63D4-31F5-D474E85C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5C48481-F2F8-ED64-1132-F884458FD282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2AB6509-4064-FD2A-C013-E17AA63C411C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9643050-404D-A287-58E0-26D9FF688FCD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A64D7DB-5839-3147-B4ED-4537B35CFFAA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46FED73-DFCE-52C6-D106-C73520EEC1D0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EA8629C-A153-EAAB-39ED-F7CAFFCC9EDF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D8650F2C-2A38-902F-0B16-4A9A5680C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6455135-769F-D214-E322-769D1FC5812B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C45CF1C-67DD-8B37-24AC-E88E9FBECA17}"/>
              </a:ext>
            </a:extLst>
          </p:cNvPr>
          <p:cNvSpPr/>
          <p:nvPr/>
        </p:nvSpPr>
        <p:spPr>
          <a:xfrm>
            <a:off x="424740" y="822170"/>
            <a:ext cx="34596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GPIO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介绍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输出寄存器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B255C4-AFAE-1362-2D02-4AE96B37F1E6}"/>
              </a:ext>
            </a:extLst>
          </p:cNvPr>
          <p:cNvSpPr txBox="1"/>
          <p:nvPr/>
        </p:nvSpPr>
        <p:spPr>
          <a:xfrm>
            <a:off x="424740" y="1608690"/>
            <a:ext cx="5262698" cy="627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122E66"/>
                </a:solidFill>
                <a:latin typeface="微软雅黑"/>
              </a:rPr>
              <a:t>Reference 8.1.2/8.1.8/8.2.4/8.2.5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122E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输出数据寄存器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ODR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endParaRPr lang="en-US" altLang="zh-CN" b="1" dirty="0">
              <a:solidFill>
                <a:srgbClr val="122E66"/>
              </a:solidFill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整体控制输出端口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可以对</a:t>
            </a:r>
            <a:r>
              <a:rPr lang="en-US" altLang="zh-CN" dirty="0">
                <a:latin typeface="微软雅黑"/>
              </a:rPr>
              <a:t>ODR</a:t>
            </a:r>
            <a:r>
              <a:rPr lang="zh-CN" altLang="en-US" dirty="0">
                <a:latin typeface="微软雅黑"/>
              </a:rPr>
              <a:t>进行“软件读</a:t>
            </a:r>
            <a:r>
              <a:rPr lang="en-US" altLang="zh-CN" dirty="0">
                <a:latin typeface="微软雅黑"/>
              </a:rPr>
              <a:t>-</a:t>
            </a:r>
            <a:r>
              <a:rPr lang="zh-CN" altLang="en-US" dirty="0">
                <a:latin typeface="微软雅黑"/>
              </a:rPr>
              <a:t>改</a:t>
            </a:r>
            <a:r>
              <a:rPr lang="en-US" altLang="zh-CN" dirty="0">
                <a:latin typeface="微软雅黑"/>
              </a:rPr>
              <a:t>-</a:t>
            </a:r>
            <a:r>
              <a:rPr lang="zh-CN" altLang="en-US" dirty="0">
                <a:latin typeface="微软雅黑"/>
              </a:rPr>
              <a:t>写”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即</a:t>
            </a:r>
            <a:r>
              <a:rPr lang="en-US" altLang="zh-CN" dirty="0">
                <a:latin typeface="微软雅黑"/>
              </a:rPr>
              <a:t>ODR |= (1&lt;&lt;5)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</a:rPr>
              <a:t>位设置</a:t>
            </a:r>
            <a:r>
              <a:rPr lang="en-US" altLang="zh-CN" b="1" dirty="0">
                <a:solidFill>
                  <a:srgbClr val="122E66"/>
                </a:solidFill>
                <a:latin typeface="微软雅黑"/>
              </a:rPr>
              <a:t>/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</a:rPr>
              <a:t>清除寄存器</a:t>
            </a:r>
            <a:r>
              <a:rPr lang="en-US" altLang="zh-CN" b="1" dirty="0">
                <a:solidFill>
                  <a:srgbClr val="122E66"/>
                </a:solidFill>
                <a:latin typeface="微软雅黑"/>
              </a:rPr>
              <a:t>BSRR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</a:rPr>
              <a:t>：</a:t>
            </a:r>
            <a:endParaRPr lang="en-US" altLang="zh-CN" b="1" dirty="0">
              <a:solidFill>
                <a:srgbClr val="122E66"/>
              </a:solidFill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自动对</a:t>
            </a:r>
            <a:r>
              <a:rPr lang="en-US" altLang="zh-CN" dirty="0">
                <a:latin typeface="微软雅黑"/>
              </a:rPr>
              <a:t>ODR</a:t>
            </a:r>
            <a:r>
              <a:rPr lang="zh-CN" altLang="en-US" dirty="0">
                <a:latin typeface="微软雅黑"/>
              </a:rPr>
              <a:t>进行“硬件读</a:t>
            </a:r>
            <a:r>
              <a:rPr lang="en-US" altLang="zh-CN" dirty="0">
                <a:latin typeface="微软雅黑"/>
              </a:rPr>
              <a:t>-</a:t>
            </a:r>
            <a:r>
              <a:rPr lang="zh-CN" altLang="en-US" dirty="0">
                <a:latin typeface="微软雅黑"/>
              </a:rPr>
              <a:t>改</a:t>
            </a:r>
            <a:r>
              <a:rPr lang="en-US" altLang="zh-CN" dirty="0">
                <a:latin typeface="微软雅黑"/>
              </a:rPr>
              <a:t>-</a:t>
            </a:r>
            <a:r>
              <a:rPr lang="zh-CN" altLang="en-US" dirty="0">
                <a:latin typeface="微软雅黑"/>
              </a:rPr>
              <a:t>写”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从而实现单独控制</a:t>
            </a:r>
            <a:r>
              <a:rPr lang="en-US" altLang="zh-CN" dirty="0">
                <a:latin typeface="微软雅黑"/>
              </a:rPr>
              <a:t>ODR</a:t>
            </a:r>
            <a:r>
              <a:rPr lang="zh-CN" altLang="en-US" dirty="0">
                <a:latin typeface="微软雅黑"/>
              </a:rPr>
              <a:t>每一位</a:t>
            </a:r>
            <a:endParaRPr lang="en-US" altLang="zh-CN" dirty="0">
              <a:latin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122E66"/>
                </a:solidFill>
                <a:latin typeface="微软雅黑"/>
              </a:rPr>
              <a:t>ODR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</a:rPr>
              <a:t>可读可写的作用：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/>
              </a:rPr>
              <a:t>ODR |=(1&lt;&lt;5)</a:t>
            </a:r>
            <a:r>
              <a:rPr lang="zh-CN" altLang="en-US" dirty="0">
                <a:latin typeface="微软雅黑"/>
              </a:rPr>
              <a:t>等价于</a:t>
            </a:r>
            <a:r>
              <a:rPr lang="en-US" altLang="zh-CN" dirty="0">
                <a:latin typeface="微软雅黑"/>
              </a:rPr>
              <a:t>ODR=ODR|(1&lt;&lt;5)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</a:rPr>
              <a:t>为了实现对</a:t>
            </a:r>
            <a:r>
              <a:rPr lang="en-US" altLang="zh-CN" dirty="0">
                <a:latin typeface="微软雅黑"/>
              </a:rPr>
              <a:t>ODR</a:t>
            </a:r>
            <a:r>
              <a:rPr lang="zh-CN" altLang="en-US" dirty="0">
                <a:latin typeface="微软雅黑"/>
              </a:rPr>
              <a:t>的“读</a:t>
            </a:r>
            <a:r>
              <a:rPr lang="en-US" altLang="zh-CN" dirty="0">
                <a:latin typeface="微软雅黑"/>
              </a:rPr>
              <a:t>-</a:t>
            </a:r>
            <a:r>
              <a:rPr lang="zh-CN" altLang="en-US" dirty="0">
                <a:latin typeface="微软雅黑"/>
              </a:rPr>
              <a:t>后</a:t>
            </a:r>
            <a:r>
              <a:rPr lang="en-US" altLang="zh-CN" dirty="0">
                <a:latin typeface="微软雅黑"/>
              </a:rPr>
              <a:t>-</a:t>
            </a:r>
            <a:r>
              <a:rPr lang="zh-CN" altLang="en-US" dirty="0">
                <a:latin typeface="微软雅黑"/>
              </a:rPr>
              <a:t>写”，</a:t>
            </a:r>
            <a:r>
              <a:rPr lang="en-US" altLang="zh-CN" dirty="0">
                <a:latin typeface="微软雅黑"/>
              </a:rPr>
              <a:t>ODR</a:t>
            </a:r>
            <a:r>
              <a:rPr lang="zh-CN" altLang="en-US" dirty="0">
                <a:latin typeface="微软雅黑"/>
              </a:rPr>
              <a:t>必须可读可写</a:t>
            </a:r>
            <a:endParaRPr lang="en-US" altLang="zh-CN" dirty="0">
              <a:latin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微软雅黑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C5F1EE-BDE3-8663-CAD8-8AD8C467E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130" y="1407655"/>
            <a:ext cx="6800284" cy="390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3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E12D-DCA0-466A-9579-C2D839AB5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0ACD0BD-C425-2D81-1E64-86DA0D347AF5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88BB4C6-4CB1-71BB-1569-F180B1DC2E10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B12414C-55D1-FE29-A92E-3C5521A01DF2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3CEA64B-41EB-EEAC-DD9B-5F8E368B18F5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462016D-C317-973F-1022-D686CEC1C74F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0F71E16-68CB-5EEF-B4FB-955240BE4F40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CE526900-E56A-CEBD-C315-34C291AB9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EC5F1FC-E754-F660-946A-6C0D8AE70FA2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9B64A52-E92A-8DB1-0756-1CD5C82F7A83}"/>
              </a:ext>
            </a:extLst>
          </p:cNvPr>
          <p:cNvSpPr/>
          <p:nvPr/>
        </p:nvSpPr>
        <p:spPr>
          <a:xfrm>
            <a:off x="424740" y="822170"/>
            <a:ext cx="3151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GPIO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介绍 </a:t>
            </a:r>
            <a:r>
              <a:rPr lang="en-US" altLang="zh-CN" sz="2400" b="1" dirty="0">
                <a:solidFill>
                  <a:srgbClr val="122E66"/>
                </a:solidFill>
                <a:latin typeface="微软雅黑"/>
              </a:rPr>
              <a:t>/ </a:t>
            </a:r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输出控制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3EED2E-FCB5-CDAA-0556-870527171139}"/>
              </a:ext>
            </a:extLst>
          </p:cNvPr>
          <p:cNvSpPr txBox="1"/>
          <p:nvPr/>
        </p:nvSpPr>
        <p:spPr>
          <a:xfrm>
            <a:off x="424740" y="1608690"/>
            <a:ext cx="6014160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双</a:t>
            </a:r>
            <a:r>
              <a:rPr lang="en-US" altLang="zh-CN" b="1" dirty="0">
                <a:solidFill>
                  <a:srgbClr val="122E66"/>
                </a:solidFill>
                <a:latin typeface="微软雅黑"/>
                <a:ea typeface="微软雅黑"/>
              </a:rPr>
              <a:t>MOS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管控制的作用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endParaRPr lang="en-US" altLang="zh-CN" b="1" dirty="0">
              <a:solidFill>
                <a:srgbClr val="122E66"/>
              </a:solidFill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通过开关两个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MOS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管来切换推挽、开漏模式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推挽 </a:t>
            </a:r>
            <a:r>
              <a:rPr lang="en-US" altLang="zh-CN" dirty="0">
                <a:latin typeface="微软雅黑"/>
                <a:ea typeface="微软雅黑"/>
              </a:rPr>
              <a:t>= </a:t>
            </a:r>
            <a:r>
              <a:rPr lang="zh-CN" altLang="en-US" dirty="0">
                <a:latin typeface="微软雅黑"/>
                <a:ea typeface="微软雅黑"/>
              </a:rPr>
              <a:t>高电平（拉电流） </a:t>
            </a:r>
            <a:r>
              <a:rPr lang="en-US" altLang="zh-CN" dirty="0">
                <a:latin typeface="微软雅黑"/>
                <a:ea typeface="微软雅黑"/>
              </a:rPr>
              <a:t>+ </a:t>
            </a:r>
            <a:r>
              <a:rPr lang="zh-CN" altLang="en-US" dirty="0">
                <a:latin typeface="微软雅黑"/>
                <a:ea typeface="微软雅黑"/>
              </a:rPr>
              <a:t>低电平（灌电流）</a:t>
            </a:r>
            <a:endParaRPr lang="en-US" altLang="zh-CN" dirty="0"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开漏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=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低电平</a:t>
            </a:r>
            <a:r>
              <a:rPr lang="en-US" altLang="zh-CN" dirty="0">
                <a:latin typeface="微软雅黑"/>
                <a:ea typeface="微软雅黑"/>
              </a:rPr>
              <a:t> + </a:t>
            </a:r>
            <a:r>
              <a:rPr lang="zh-CN" altLang="en-US" dirty="0">
                <a:latin typeface="微软雅黑"/>
                <a:ea typeface="微软雅黑"/>
              </a:rPr>
              <a:t>高阻态</a:t>
            </a:r>
            <a:endParaRPr lang="en-US" altLang="zh-CN" dirty="0">
              <a:latin typeface="微软雅黑"/>
              <a:ea typeface="微软雅黑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可以自行通过学习</a:t>
            </a:r>
            <a:r>
              <a:rPr lang="en-US" altLang="zh-CN" dirty="0">
                <a:latin typeface="微软雅黑"/>
                <a:ea typeface="微软雅黑"/>
              </a:rPr>
              <a:t>I2C</a:t>
            </a:r>
            <a:r>
              <a:rPr lang="zh-CN" altLang="en-US" dirty="0">
                <a:latin typeface="微软雅黑"/>
                <a:ea typeface="微软雅黑"/>
              </a:rPr>
              <a:t>来了解开漏的作用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0BCEF54-DBAF-1E01-3F78-95C425129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10" y="3720831"/>
            <a:ext cx="5148944" cy="29601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4738850-5071-217D-888F-B63FC9A3A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795" y="4006850"/>
            <a:ext cx="3107153" cy="23822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2E73C4A-75D9-B49E-C8FC-7530C8284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224" y="1053000"/>
            <a:ext cx="4681476" cy="284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3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0B16-0AFA-6F6B-EA6E-C09563525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425BBF7-0FA7-7977-063E-37C4C06576A4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选题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4E8D02D-21F4-A4FB-53F5-21FE042D4D5C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4EBB687-5F7D-CF40-6274-81E8FA736FEC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F2F555F-7474-C35A-4303-CFD37EBFFC6F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98D274B-F344-130C-05F2-5146736D0A0D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D1304D6-BF39-E287-7DA6-880DAFE7E875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52C1C715-93F7-C384-92D6-FD2DF2EF6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5FFC458-F98A-056D-1409-1C837DE96068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D0303CB-FD72-D470-8433-6DDC50C424E6}"/>
              </a:ext>
            </a:extLst>
          </p:cNvPr>
          <p:cNvSpPr/>
          <p:nvPr/>
        </p:nvSpPr>
        <p:spPr>
          <a:xfrm>
            <a:off x="424740" y="82217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22E66"/>
                </a:solidFill>
                <a:latin typeface="微软雅黑"/>
              </a:rPr>
              <a:t>上电流程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E82F06-CB73-FAF0-EEE4-16A5A1C34148}"/>
              </a:ext>
            </a:extLst>
          </p:cNvPr>
          <p:cNvSpPr txBox="1"/>
          <p:nvPr/>
        </p:nvSpPr>
        <p:spPr>
          <a:xfrm>
            <a:off x="424740" y="1608690"/>
            <a:ext cx="11075110" cy="5444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122E66"/>
                </a:solidFill>
                <a:latin typeface="微软雅黑"/>
                <a:ea typeface="微软雅黑"/>
              </a:rPr>
              <a:t>BOOT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区从</a:t>
            </a:r>
            <a:r>
              <a:rPr lang="en-US" altLang="zh-CN" b="1" dirty="0">
                <a:solidFill>
                  <a:srgbClr val="122E66"/>
                </a:solidFill>
                <a:latin typeface="微软雅黑"/>
                <a:ea typeface="微软雅黑"/>
              </a:rPr>
              <a:t>Flash</a:t>
            </a: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启动</a:t>
            </a:r>
            <a:endParaRPr lang="en-US" altLang="zh-CN" b="1" dirty="0">
              <a:solidFill>
                <a:srgbClr val="122E66"/>
              </a:solidFill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由于</a:t>
            </a:r>
            <a:r>
              <a:rPr lang="en-US" altLang="zh-CN" dirty="0">
                <a:latin typeface="微软雅黑"/>
                <a:ea typeface="微软雅黑"/>
              </a:rPr>
              <a:t>Flash</a:t>
            </a:r>
            <a:r>
              <a:rPr lang="zh-CN" altLang="en-US" dirty="0">
                <a:latin typeface="微软雅黑"/>
                <a:ea typeface="微软雅黑"/>
              </a:rPr>
              <a:t>区的开头（包含中断向量表）映射到</a:t>
            </a:r>
            <a:r>
              <a:rPr lang="en-US" altLang="zh-CN" dirty="0">
                <a:latin typeface="微软雅黑"/>
                <a:ea typeface="微软雅黑"/>
              </a:rPr>
              <a:t>BOOT</a:t>
            </a:r>
            <a:r>
              <a:rPr lang="zh-CN" altLang="en-US" dirty="0">
                <a:latin typeface="微软雅黑"/>
                <a:ea typeface="微软雅黑"/>
              </a:rPr>
              <a:t>区</a:t>
            </a:r>
            <a:endParaRPr lang="en-US" altLang="zh-CN" dirty="0"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上电时</a:t>
            </a:r>
            <a:r>
              <a:rPr lang="en-US" altLang="zh-CN" dirty="0">
                <a:latin typeface="微软雅黑"/>
                <a:ea typeface="微软雅黑"/>
              </a:rPr>
              <a:t>CPU</a:t>
            </a:r>
            <a:r>
              <a:rPr lang="zh-CN" altLang="en-US" dirty="0">
                <a:latin typeface="微软雅黑"/>
                <a:ea typeface="微软雅黑"/>
              </a:rPr>
              <a:t>从</a:t>
            </a:r>
            <a:r>
              <a:rPr lang="en-US" altLang="zh-CN" dirty="0">
                <a:latin typeface="微软雅黑"/>
                <a:ea typeface="微软雅黑"/>
              </a:rPr>
              <a:t>0x00000000</a:t>
            </a:r>
            <a:r>
              <a:rPr lang="zh-CN" altLang="en-US" dirty="0">
                <a:latin typeface="微软雅黑"/>
                <a:ea typeface="微软雅黑"/>
              </a:rPr>
              <a:t>启动，会因为映射取到</a:t>
            </a:r>
            <a:r>
              <a:rPr lang="en-US" altLang="zh-CN" dirty="0">
                <a:latin typeface="微软雅黑"/>
                <a:ea typeface="微软雅黑"/>
              </a:rPr>
              <a:t>0x</a:t>
            </a:r>
            <a:r>
              <a:rPr lang="en-US" altLang="zh-CN" dirty="0"/>
              <a:t>08000000</a:t>
            </a:r>
            <a:r>
              <a:rPr lang="zh-CN" altLang="en-US" dirty="0"/>
              <a:t>的指令</a:t>
            </a:r>
            <a:endParaRPr lang="en-US" altLang="zh-CN" dirty="0">
              <a:latin typeface="微软雅黑"/>
              <a:ea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读中断向量表</a:t>
            </a:r>
            <a:endParaRPr lang="en-US" altLang="zh-CN" b="1" dirty="0">
              <a:solidFill>
                <a:srgbClr val="122E66"/>
              </a:solidFill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用</a:t>
            </a:r>
            <a:r>
              <a:rPr lang="zh-CN" altLang="en-US" dirty="0">
                <a:solidFill>
                  <a:srgbClr val="FF0000"/>
                </a:solidFill>
                <a:latin typeface="微软雅黑"/>
                <a:ea typeface="微软雅黑"/>
              </a:rPr>
              <a:t>硬件</a:t>
            </a:r>
            <a:r>
              <a:rPr lang="zh-CN" altLang="en-US" dirty="0">
                <a:latin typeface="微软雅黑"/>
                <a:ea typeface="微软雅黑"/>
              </a:rPr>
              <a:t>读取</a:t>
            </a:r>
            <a:r>
              <a:rPr lang="zh-CN" altLang="en-US" dirty="0"/>
              <a:t>栈顶地址（</a:t>
            </a:r>
            <a:r>
              <a:rPr lang="en-US" altLang="zh-CN" dirty="0"/>
              <a:t>__</a:t>
            </a:r>
            <a:r>
              <a:rPr lang="en-US" altLang="zh-CN" dirty="0" err="1"/>
              <a:t>initial_sp</a:t>
            </a:r>
            <a:r>
              <a:rPr lang="zh-CN" altLang="en-US" dirty="0"/>
              <a:t>），并放置于主栈指针寄存器（</a:t>
            </a:r>
            <a:r>
              <a:rPr lang="en-US" altLang="zh-CN" dirty="0"/>
              <a:t>MSP</a:t>
            </a:r>
            <a:r>
              <a:rPr lang="zh-CN" altLang="en-US" dirty="0"/>
              <a:t>）中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用</a:t>
            </a:r>
            <a:r>
              <a:rPr lang="zh-CN" altLang="en-US" dirty="0">
                <a:solidFill>
                  <a:srgbClr val="FF0000"/>
                </a:solidFill>
                <a:latin typeface="微软雅黑"/>
                <a:ea typeface="微软雅黑"/>
              </a:rPr>
              <a:t>硬件</a:t>
            </a:r>
            <a:r>
              <a:rPr lang="zh-CN" altLang="en-US" dirty="0">
                <a:latin typeface="微软雅黑"/>
                <a:ea typeface="微软雅黑"/>
              </a:rPr>
              <a:t>读取复位向量（</a:t>
            </a:r>
            <a:r>
              <a:rPr lang="en-US" altLang="zh-CN" dirty="0" err="1">
                <a:latin typeface="微软雅黑"/>
                <a:ea typeface="微软雅黑"/>
              </a:rPr>
              <a:t>Reset_Handler</a:t>
            </a:r>
            <a:r>
              <a:rPr lang="zh-CN" altLang="en-US" dirty="0">
                <a:latin typeface="微软雅黑"/>
                <a:ea typeface="微软雅黑"/>
              </a:rPr>
              <a:t>），并放置于程序计数器（</a:t>
            </a:r>
            <a:r>
              <a:rPr lang="en-US" altLang="zh-CN" dirty="0">
                <a:latin typeface="微软雅黑"/>
                <a:ea typeface="微软雅黑"/>
              </a:rPr>
              <a:t>PC</a:t>
            </a:r>
            <a:r>
              <a:rPr lang="zh-CN" altLang="en-US" dirty="0">
                <a:latin typeface="微软雅黑"/>
                <a:ea typeface="微软雅黑"/>
              </a:rPr>
              <a:t>）中</a:t>
            </a:r>
            <a:endParaRPr lang="en-US" altLang="zh-CN" dirty="0">
              <a:latin typeface="微软雅黑"/>
              <a:ea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执行复位向量</a:t>
            </a:r>
            <a:endParaRPr lang="en-US" altLang="zh-CN" b="1" dirty="0">
              <a:solidFill>
                <a:srgbClr val="122E66"/>
              </a:solidFill>
              <a:latin typeface="微软雅黑"/>
              <a:ea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跳转到</a:t>
            </a:r>
            <a:r>
              <a:rPr lang="en-US" altLang="zh-CN" dirty="0" err="1">
                <a:latin typeface="微软雅黑"/>
              </a:rPr>
              <a:t>SystemInit</a:t>
            </a:r>
            <a:r>
              <a:rPr lang="en-US" altLang="zh-CN" dirty="0">
                <a:latin typeface="微软雅黑"/>
              </a:rPr>
              <a:t>()</a:t>
            </a:r>
            <a:r>
              <a:rPr lang="zh-CN" altLang="en-US" dirty="0">
                <a:latin typeface="微软雅黑"/>
              </a:rPr>
              <a:t>，进行系统初始化，比如配置时钟树</a:t>
            </a:r>
            <a:endParaRPr lang="en-US" altLang="zh-CN" dirty="0">
              <a:latin typeface="微软雅黑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跳转到</a:t>
            </a:r>
            <a:r>
              <a:rPr lang="en-US" altLang="zh-CN" dirty="0">
                <a:latin typeface="微软雅黑"/>
                <a:ea typeface="微软雅黑"/>
              </a:rPr>
              <a:t>__main()</a:t>
            </a:r>
            <a:r>
              <a:rPr lang="zh-CN" altLang="en-US" dirty="0">
                <a:latin typeface="微软雅黑"/>
                <a:ea typeface="微软雅黑"/>
              </a:rPr>
              <a:t>，由编译环境隐式提供，进行</a:t>
            </a:r>
            <a:r>
              <a:rPr lang="zh-CN" altLang="en-US" dirty="0"/>
              <a:t>栈和</a:t>
            </a:r>
            <a:r>
              <a:rPr lang="en-US" altLang="zh-CN" dirty="0"/>
              <a:t>RAM</a:t>
            </a:r>
            <a:r>
              <a:rPr lang="zh-CN" altLang="en-US" dirty="0"/>
              <a:t>的初始化并跳转到</a:t>
            </a:r>
            <a:r>
              <a:rPr lang="en-US" altLang="zh-CN" dirty="0"/>
              <a:t>main()</a:t>
            </a:r>
            <a:r>
              <a:rPr lang="zh-CN" altLang="en-US" dirty="0"/>
              <a:t>（行为与</a:t>
            </a:r>
            <a:r>
              <a:rPr lang="en-US" altLang="zh-CN" dirty="0" err="1"/>
              <a:t>ysyxSoC</a:t>
            </a:r>
            <a:r>
              <a:rPr lang="zh-CN" altLang="en-US" dirty="0"/>
              <a:t>的</a:t>
            </a:r>
            <a:r>
              <a:rPr lang="en-US" altLang="zh-CN" dirty="0"/>
              <a:t>bootloader</a:t>
            </a:r>
            <a:r>
              <a:rPr lang="zh-CN" altLang="en-US" dirty="0"/>
              <a:t>类似）</a:t>
            </a:r>
            <a:endParaRPr lang="en-US" altLang="zh-CN" dirty="0">
              <a:latin typeface="微软雅黑"/>
              <a:ea typeface="微软雅黑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  <a:latin typeface="微软雅黑"/>
                <a:ea typeface="微软雅黑"/>
              </a:rPr>
              <a:t>执行用户程序</a:t>
            </a:r>
            <a:r>
              <a:rPr lang="en-US" altLang="zh-CN" b="1" dirty="0">
                <a:solidFill>
                  <a:srgbClr val="122E66"/>
                </a:solidFill>
                <a:latin typeface="微软雅黑"/>
                <a:ea typeface="微软雅黑"/>
              </a:rPr>
              <a:t>main()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微软雅黑"/>
              <a:ea typeface="微软雅黑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3338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529C-B370-E082-ACE1-BCB0DB11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20C4918-6D2A-2593-A243-1284933DEC7E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</a:rPr>
              <a:t>选题介绍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20F1A30-2BF6-9CC1-28C7-5A2DB595F57C}"/>
              </a:ext>
            </a:extLst>
          </p:cNvPr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8977C04-C9ED-A121-E343-59AB2727BB17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r>
              <a:rPr lang="zh-CN" altLang="en-US" sz="2000" kern="0" dirty="0">
                <a:solidFill>
                  <a:schemeClr val="bg1">
                    <a:alpha val="70000"/>
                  </a:schemeClr>
                </a:solidFill>
                <a:cs typeface="+mn-ea"/>
                <a:sym typeface="+mn-lt"/>
              </a:rPr>
              <a:t>研究内容</a:t>
            </a:r>
            <a:endParaRPr lang="en-US" altLang="zh-CN" sz="2000" kern="0" dirty="0">
              <a:solidFill>
                <a:schemeClr val="bg1">
                  <a:alpha val="7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65375EB-936C-88A5-D4B4-3D7BFA941FAD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>
            <a:extLst>
              <a:ext uri="{FF2B5EF4-FFF2-40B4-BE49-F238E27FC236}">
                <a16:creationId xmlns:a16="http://schemas.microsoft.com/office/drawing/2014/main" id="{68FA38D5-FB53-ED2D-034F-66505A83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3225"/>
          </a:xfrm>
        </p:spPr>
        <p:txBody>
          <a:bodyPr wrap="square"/>
          <a:lstStyle/>
          <a:p>
            <a:r>
              <a:rPr lang="zh-CN" altLang="en-US" dirty="0">
                <a:solidFill>
                  <a:srgbClr val="122E66"/>
                </a:solidFill>
              </a:rPr>
              <a:t>总结与展望</a:t>
            </a:r>
            <a:endParaRPr lang="zh-CN" altLang="en-US" dirty="0"/>
          </a:p>
        </p:txBody>
      </p: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FE782A8-71E0-916D-1E01-075A3E2463F4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CFB241A-D3F2-548C-7441-FFD709E073B9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总结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C935BE0-25F4-BDC9-2DEA-275E7568A0B6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BA6B0767-E693-E740-DACF-8C661F1AD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11CEA4D-D6A2-7F20-0D9E-6660697240D6}"/>
              </a:ext>
            </a:extLst>
          </p:cNvPr>
          <p:cNvSpPr txBox="1"/>
          <p:nvPr/>
        </p:nvSpPr>
        <p:spPr>
          <a:xfrm>
            <a:off x="389255" y="1917432"/>
            <a:ext cx="110597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</a:rPr>
              <a:t>总结</a:t>
            </a:r>
            <a:endParaRPr lang="en-US" altLang="zh-CN" b="1" dirty="0">
              <a:solidFill>
                <a:srgbClr val="122E66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基于</a:t>
            </a:r>
            <a:r>
              <a:rPr lang="en-US" altLang="zh-CN" dirty="0"/>
              <a:t>STM32F1</a:t>
            </a:r>
            <a:r>
              <a:rPr lang="zh-CN" altLang="en-US" dirty="0"/>
              <a:t>，对</a:t>
            </a:r>
            <a:r>
              <a:rPr lang="en-US" altLang="zh-CN" dirty="0"/>
              <a:t>MCU</a:t>
            </a:r>
            <a:r>
              <a:rPr lang="zh-CN" altLang="en-US" dirty="0"/>
              <a:t>进行了简单介绍，希望对大家以后读</a:t>
            </a:r>
            <a:r>
              <a:rPr lang="en-US" altLang="zh-CN" dirty="0"/>
              <a:t>SoC</a:t>
            </a:r>
            <a:r>
              <a:rPr lang="zh-CN" altLang="en-US" dirty="0"/>
              <a:t>源码和设计有思路上的帮助。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122E66"/>
                </a:solidFill>
              </a:rPr>
              <a:t>展望</a:t>
            </a:r>
            <a:endParaRPr lang="en-US" altLang="zh-CN" b="1" dirty="0">
              <a:solidFill>
                <a:srgbClr val="122E66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未来可能会讲解</a:t>
            </a:r>
            <a:r>
              <a:rPr lang="en-US" altLang="zh-CN" dirty="0"/>
              <a:t>MCU</a:t>
            </a:r>
            <a:r>
              <a:rPr lang="zh-CN" altLang="en-US" dirty="0"/>
              <a:t>的其他组成部分，或者针对</a:t>
            </a:r>
            <a:r>
              <a:rPr lang="en-US" altLang="zh-CN" dirty="0" err="1"/>
              <a:t>FreeRTOS</a:t>
            </a:r>
            <a:r>
              <a:rPr lang="zh-CN" altLang="en-US" dirty="0"/>
              <a:t>进行</a:t>
            </a:r>
            <a:r>
              <a:rPr lang="zh-CN" altLang="en-US"/>
              <a:t>介绍。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607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heme/theme1.xml><?xml version="1.0" encoding="utf-8"?>
<a:theme xmlns:a="http://schemas.openxmlformats.org/drawingml/2006/main" name="Office Theme">
  <a:themeElements>
    <a:clrScheme name="00深蓝+金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22E66"/>
      </a:accent1>
      <a:accent2>
        <a:srgbClr val="D0B296"/>
      </a:accent2>
      <a:accent3>
        <a:srgbClr val="122E66"/>
      </a:accent3>
      <a:accent4>
        <a:srgbClr val="D0B296"/>
      </a:accent4>
      <a:accent5>
        <a:srgbClr val="122E66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1434</Words>
  <Application>Microsoft Office PowerPoint</Application>
  <PresentationFormat>宽屏</PresentationFormat>
  <Paragraphs>196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微软雅黑</vt:lpstr>
      <vt:lpstr>Arial</vt:lpstr>
      <vt:lpstr>Calibri</vt:lpstr>
      <vt:lpstr>Wingdings</vt:lpstr>
      <vt:lpstr>Office Theme</vt:lpstr>
      <vt:lpstr>PowerPoint 演示文稿</vt:lpstr>
      <vt:lpstr>选题介绍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总结与展望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森 严</cp:lastModifiedBy>
  <cp:revision>339</cp:revision>
  <dcterms:created xsi:type="dcterms:W3CDTF">2024-07-21T02:26:42Z</dcterms:created>
  <dcterms:modified xsi:type="dcterms:W3CDTF">2026-04-16T08:54:33Z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